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tags+xml" PartName="/ppt/tags/tag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custDataLst>
    <p:tags r:id="rId26"/>
  </p:custDataLst>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2D5ABB26-0587-4C30-8999-92F81FD0307C}" styleName="No Style, No Grid">
    <a:wholeTbl>
      <a:tcTxStyle>
        <a:fontRef idx="minor">
          <a:scrgbClr b="0" g="0" r="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b="0" g="0" r="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b="0" g="0" r="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tableStyles" Target="tableStyles1.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tags" Target="tags/tag1.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B847E7-E52C-4EEE-968D-C8DCABB95637}" type="datetimeFigureOut">
              <a:rPr lang="en-IN" smtClean="0"/>
              <a:t>30-03-2026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F0321E-FF81-4034-B2B9-5B1E56D4F5A0}" type="slidenum">
              <a:rPr lang="en-IN" smtClean="0"/>
              <a:t>‹#›</a:t>
            </a:fld>
            <a:endParaRPr lang="en-IN"/>
          </a:p>
        </p:txBody>
      </p:sp>
    </p:spTree>
    <p:extLst>
      <p:ext uri="{BB962C8B-B14F-4D97-AF65-F5344CB8AC3E}">
        <p14:creationId xmlns:p14="http://schemas.microsoft.com/office/powerpoint/2010/main" val="1448238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EF0321E-FF81-4034-B2B9-5B1E56D4F5A0}" type="slidenum">
              <a:rPr lang="en-IN" smtClean="0"/>
              <a:t>1</a:t>
            </a:fld>
            <a:endParaRPr lang="en-IN"/>
          </a:p>
        </p:txBody>
      </p:sp>
    </p:spTree>
    <p:extLst>
      <p:ext uri="{BB962C8B-B14F-4D97-AF65-F5344CB8AC3E}">
        <p14:creationId xmlns:p14="http://schemas.microsoft.com/office/powerpoint/2010/main" val="1139049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462653D-AD5E-4F64-914E-6AF3E19D186B}"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B3A0FF-80CC-494B-AA6A-208E66B8ECAC}" type="slidenum">
              <a:rPr lang="en-IN" smtClean="0"/>
              <a:t>‹#›</a:t>
            </a:fld>
            <a:endParaRPr lang="en-IN"/>
          </a:p>
        </p:txBody>
      </p:sp>
    </p:spTree>
    <p:extLst>
      <p:ext uri="{BB962C8B-B14F-4D97-AF65-F5344CB8AC3E}">
        <p14:creationId xmlns:p14="http://schemas.microsoft.com/office/powerpoint/2010/main" val="2496642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462653D-AD5E-4F64-914E-6AF3E19D186B}"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B3A0FF-80CC-494B-AA6A-208E66B8ECAC}" type="slidenum">
              <a:rPr lang="en-IN" smtClean="0"/>
              <a:t>‹#›</a:t>
            </a:fld>
            <a:endParaRPr lang="en-IN"/>
          </a:p>
        </p:txBody>
      </p:sp>
    </p:spTree>
    <p:extLst>
      <p:ext uri="{BB962C8B-B14F-4D97-AF65-F5344CB8AC3E}">
        <p14:creationId xmlns:p14="http://schemas.microsoft.com/office/powerpoint/2010/main" val="4196986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462653D-AD5E-4F64-914E-6AF3E19D186B}"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B3A0FF-80CC-494B-AA6A-208E66B8ECAC}" type="slidenum">
              <a:rPr lang="en-IN" smtClean="0"/>
              <a:t>‹#›</a:t>
            </a:fld>
            <a:endParaRPr lang="en-IN"/>
          </a:p>
        </p:txBody>
      </p:sp>
    </p:spTree>
    <p:extLst>
      <p:ext uri="{BB962C8B-B14F-4D97-AF65-F5344CB8AC3E}">
        <p14:creationId xmlns:p14="http://schemas.microsoft.com/office/powerpoint/2010/main" val="103326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462653D-AD5E-4F64-914E-6AF3E19D186B}" type="datetimeFigureOut">
              <a:rPr lang="en-IN" smtClean="0"/>
              <a:t>30-03-2026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B3A0FF-80CC-494B-AA6A-208E66B8ECAC}" type="slidenum">
              <a:rPr lang="en-IN" smtClean="0"/>
              <a:t>‹#›</a:t>
            </a:fld>
            <a:endParaRPr lang="en-IN"/>
          </a:p>
        </p:txBody>
      </p:sp>
    </p:spTree>
    <p:extLst>
      <p:ext uri="{BB962C8B-B14F-4D97-AF65-F5344CB8AC3E}">
        <p14:creationId xmlns:p14="http://schemas.microsoft.com/office/powerpoint/2010/main" val="3521050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462653D-AD5E-4F64-914E-6AF3E19D186B}" type="datetimeFigureOut">
              <a:rPr lang="en-IN" smtClean="0"/>
              <a:t>30-03-2026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5B3A0FF-80CC-494B-AA6A-208E66B8ECAC}" type="slidenum">
              <a:rPr lang="en-IN" smtClean="0"/>
              <a:t>‹#›</a:t>
            </a:fld>
            <a:endParaRPr lang="en-IN"/>
          </a:p>
        </p:txBody>
      </p:sp>
    </p:spTree>
    <p:extLst>
      <p:ext uri="{BB962C8B-B14F-4D97-AF65-F5344CB8AC3E}">
        <p14:creationId xmlns:p14="http://schemas.microsoft.com/office/powerpoint/2010/main" val="4222450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462653D-AD5E-4F64-914E-6AF3E19D186B}" type="datetimeFigureOut">
              <a:rPr lang="en-IN" smtClean="0"/>
              <a:t>30-03-2026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5B3A0FF-80CC-494B-AA6A-208E66B8ECAC}" type="slidenum">
              <a:rPr lang="en-IN" smtClean="0"/>
              <a:t>‹#›</a:t>
            </a:fld>
            <a:endParaRPr lang="en-IN"/>
          </a:p>
        </p:txBody>
      </p:sp>
    </p:spTree>
    <p:extLst>
      <p:ext uri="{BB962C8B-B14F-4D97-AF65-F5344CB8AC3E}">
        <p14:creationId xmlns:p14="http://schemas.microsoft.com/office/powerpoint/2010/main" val="2708901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2653D-AD5E-4F64-914E-6AF3E19D186B}" type="datetimeFigureOut">
              <a:rPr lang="en-IN" smtClean="0"/>
              <a:t>30-03-2026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5B3A0FF-80CC-494B-AA6A-208E66B8ECAC}" type="slidenum">
              <a:rPr lang="en-IN" smtClean="0"/>
              <a:t>‹#›</a:t>
            </a:fld>
            <a:endParaRPr lang="en-IN"/>
          </a:p>
        </p:txBody>
      </p:sp>
    </p:spTree>
    <p:extLst>
      <p:ext uri="{BB962C8B-B14F-4D97-AF65-F5344CB8AC3E}">
        <p14:creationId xmlns:p14="http://schemas.microsoft.com/office/powerpoint/2010/main" val="2013286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62653D-AD5E-4F64-914E-6AF3E19D186B}" type="datetimeFigureOut">
              <a:rPr lang="en-IN" smtClean="0"/>
              <a:t>30-03-2026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B3A0FF-80CC-494B-AA6A-208E66B8ECAC}" type="slidenum">
              <a:rPr lang="en-IN" smtClean="0"/>
              <a:t>‹#›</a:t>
            </a:fld>
            <a:endParaRPr lang="en-IN"/>
          </a:p>
        </p:txBody>
      </p:sp>
    </p:spTree>
    <p:extLst>
      <p:ext uri="{BB962C8B-B14F-4D97-AF65-F5344CB8AC3E}">
        <p14:creationId xmlns:p14="http://schemas.microsoft.com/office/powerpoint/2010/main" val="3698880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62653D-AD5E-4F64-914E-6AF3E19D186B}" type="datetimeFigureOut">
              <a:rPr lang="en-IN" smtClean="0"/>
              <a:t>30-03-2026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B3A0FF-80CC-494B-AA6A-208E66B8ECAC}" type="slidenum">
              <a:rPr lang="en-IN" smtClean="0"/>
              <a:t>‹#›</a:t>
            </a:fld>
            <a:endParaRPr lang="en-IN"/>
          </a:p>
        </p:txBody>
      </p:sp>
    </p:spTree>
    <p:extLst>
      <p:ext uri="{BB962C8B-B14F-4D97-AF65-F5344CB8AC3E}">
        <p14:creationId xmlns:p14="http://schemas.microsoft.com/office/powerpoint/2010/main" val="1577558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462653D-AD5E-4F64-914E-6AF3E19D186B}"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B3A0FF-80CC-494B-AA6A-208E66B8ECAC}" type="slidenum">
              <a:rPr lang="en-IN" smtClean="0"/>
              <a:t>‹#›</a:t>
            </a:fld>
            <a:endParaRPr lang="en-IN"/>
          </a:p>
        </p:txBody>
      </p:sp>
    </p:spTree>
    <p:extLst>
      <p:ext uri="{BB962C8B-B14F-4D97-AF65-F5344CB8AC3E}">
        <p14:creationId xmlns:p14="http://schemas.microsoft.com/office/powerpoint/2010/main" val="10269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462653D-AD5E-4F64-914E-6AF3E19D186B}"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B3A0FF-80CC-494B-AA6A-208E66B8ECAC}" type="slidenum">
              <a:rPr lang="en-IN" smtClean="0"/>
              <a:t>‹#›</a:t>
            </a:fld>
            <a:endParaRPr lang="en-IN"/>
          </a:p>
        </p:txBody>
      </p:sp>
    </p:spTree>
    <p:extLst>
      <p:ext uri="{BB962C8B-B14F-4D97-AF65-F5344CB8AC3E}">
        <p14:creationId xmlns:p14="http://schemas.microsoft.com/office/powerpoint/2010/main" val="4253179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2653D-AD5E-4F64-914E-6AF3E19D186B}" type="datetimeFigureOut">
              <a:rPr lang="en-IN" smtClean="0"/>
              <a:t>30-03-2026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B3A0FF-80CC-494B-AA6A-208E66B8ECAC}" type="slidenum">
              <a:rPr lang="en-IN" smtClean="0"/>
              <a:t>‹#›</a:t>
            </a:fld>
            <a:endParaRPr lang="en-IN"/>
          </a:p>
        </p:txBody>
      </p:sp>
    </p:spTree>
    <p:extLst>
      <p:ext uri="{BB962C8B-B14F-4D97-AF65-F5344CB8AC3E}">
        <p14:creationId xmlns:p14="http://schemas.microsoft.com/office/powerpoint/2010/main" val="34420383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47;p4">
            <a:extLst>
              <a:ext uri="{FF2B5EF4-FFF2-40B4-BE49-F238E27FC236}">
                <a16:creationId xmlns:a16="http://schemas.microsoft.com/office/drawing/2014/main" xmlns="" id="{5F77D579-BDB8-C007-CC5F-09CD644352E6}"/>
              </a:ext>
            </a:extLst>
          </p:cNvPr>
          <p:cNvSpPr txBox="1"/>
          <p:nvPr/>
        </p:nvSpPr>
        <p:spPr>
          <a:xfrm>
            <a:off x="-1051561" y="337539"/>
            <a:ext cx="13784579" cy="1805110"/>
          </a:xfrm>
          <a:prstGeom prst="rect">
            <a:avLst/>
          </a:prstGeom>
          <a:noFill/>
          <a:ln>
            <a:noFill/>
          </a:ln>
        </p:spPr>
        <p:txBody>
          <a:bodyPr spcFirstLastPara="1" wrap="square" lIns="0" tIns="0" rIns="0" bIns="0" anchor="ctr"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15000"/>
              </a:lnSpc>
              <a:spcBef>
                <a:spcPts val="0"/>
              </a:spcBef>
              <a:buClr>
                <a:srgbClr val="000000"/>
              </a:buClr>
              <a:buSzPts val="1800"/>
              <a:buFont typeface="Times New Roman" panose="02020603050405020304"/>
              <a:buNone/>
            </a:pPr>
            <a:r>
              <a:rPr lang="en-US" sz="2400" b="1"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HINDUSTHAN INSTITUTE OF TECHNOLOGY,</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COIMBATORE – 641 032</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(An Autonomous Institution)</a:t>
            </a:r>
          </a:p>
          <a:p>
            <a:pPr algn="ctr">
              <a:lnSpc>
                <a:spcPct val="115000"/>
              </a:lnSpc>
              <a:spcBef>
                <a:spcPts val="0"/>
              </a:spcBef>
              <a:buClr>
                <a:srgbClr val="000000"/>
              </a:buClr>
              <a:buSzPts val="1800"/>
              <a:buFont typeface="Times New Roman" panose="02020603050405020304"/>
              <a:buNone/>
            </a:pPr>
            <a:r>
              <a:rPr lang="en-US" sz="1800" dirty="0">
                <a:latin typeface="Times New Roman" panose="02020603050405020304" pitchFamily="18" charset="0"/>
                <a:cs typeface="Times New Roman" panose="02020603050405020304" pitchFamily="18" charset="0"/>
              </a:rPr>
              <a:t>(Approved by </a:t>
            </a:r>
            <a:r>
              <a:rPr lang="en-US" sz="1800" dirty="0" err="1">
                <a:latin typeface="Times New Roman" panose="02020603050405020304" pitchFamily="18" charset="0"/>
                <a:cs typeface="Times New Roman" panose="02020603050405020304" pitchFamily="18" charset="0"/>
              </a:rPr>
              <a:t>AICTE,New</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Delhi,Affiliated</a:t>
            </a:r>
            <a:r>
              <a:rPr lang="en-US" sz="1800" dirty="0">
                <a:latin typeface="Times New Roman" panose="02020603050405020304" pitchFamily="18" charset="0"/>
                <a:cs typeface="Times New Roman" panose="02020603050405020304" pitchFamily="18" charset="0"/>
              </a:rPr>
              <a:t> To Anna </a:t>
            </a:r>
            <a:r>
              <a:rPr lang="en-US" sz="1800" dirty="0" err="1">
                <a:latin typeface="Times New Roman" panose="02020603050405020304" pitchFamily="18" charset="0"/>
                <a:cs typeface="Times New Roman" panose="02020603050405020304" pitchFamily="18" charset="0"/>
              </a:rPr>
              <a:t>University,Chennai</a:t>
            </a:r>
            <a:r>
              <a:rPr lang="en-US" sz="1800" dirty="0">
                <a:latin typeface="Times New Roman" panose="02020603050405020304" pitchFamily="18" charset="0"/>
                <a:cs typeface="Times New Roman" panose="02020603050405020304" pitchFamily="18" charset="0"/>
              </a:rPr>
              <a:t>)</a:t>
            </a:r>
          </a:p>
          <a:p>
            <a:pPr algn="ctr">
              <a:lnSpc>
                <a:spcPct val="115000"/>
              </a:lnSpc>
              <a:spcBef>
                <a:spcPts val="0"/>
              </a:spcBef>
              <a:buClr>
                <a:srgbClr val="000000"/>
              </a:buClr>
              <a:buSzPts val="1800"/>
              <a:buFont typeface="Times New Roman" panose="02020603050405020304"/>
              <a:buNone/>
            </a:pPr>
            <a:r>
              <a:rPr lang="en-US" sz="1800" dirty="0">
                <a:latin typeface="Times New Roman" panose="02020603050405020304" pitchFamily="18" charset="0"/>
                <a:cs typeface="Times New Roman" panose="02020603050405020304" pitchFamily="18" charset="0"/>
              </a:rPr>
              <a:t>Vally Campus, Pollachi Main Road , Coimbatore – 642 032 </a:t>
            </a:r>
            <a:endParaRPr lang="en-US" sz="160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p:txBody>
      </p:sp>
      <p:pic>
        <p:nvPicPr>
          <p:cNvPr id="6" name="Google Shape;150;p4">
            <a:extLst>
              <a:ext uri="{FF2B5EF4-FFF2-40B4-BE49-F238E27FC236}">
                <a16:creationId xmlns:a16="http://schemas.microsoft.com/office/drawing/2014/main" xmlns="" id="{3CAB047F-9C97-EC8A-049F-D222A51521AB}"/>
              </a:ext>
            </a:extLst>
          </p:cNvPr>
          <p:cNvPicPr preferRelativeResize="0"/>
          <p:nvPr/>
        </p:nvPicPr>
        <p:blipFill rotWithShape="1">
          <a:blip r:embed="rId3"/>
          <a:srcRect/>
          <a:stretch>
            <a:fillRect/>
          </a:stretch>
        </p:blipFill>
        <p:spPr>
          <a:xfrm>
            <a:off x="375867" y="280045"/>
            <a:ext cx="718187" cy="979096"/>
          </a:xfrm>
          <a:prstGeom prst="rect">
            <a:avLst/>
          </a:prstGeom>
          <a:noFill/>
          <a:ln>
            <a:noFill/>
          </a:ln>
        </p:spPr>
      </p:pic>
      <p:sp>
        <p:nvSpPr>
          <p:cNvPr id="8" name="TextBox 7">
            <a:extLst>
              <a:ext uri="{FF2B5EF4-FFF2-40B4-BE49-F238E27FC236}">
                <a16:creationId xmlns:a16="http://schemas.microsoft.com/office/drawing/2014/main" xmlns="" id="{7C6EF076-833D-4E38-82C0-3ABCA93DE002}"/>
              </a:ext>
            </a:extLst>
          </p:cNvPr>
          <p:cNvSpPr txBox="1"/>
          <p:nvPr/>
        </p:nvSpPr>
        <p:spPr>
          <a:xfrm>
            <a:off x="1729559" y="2951946"/>
            <a:ext cx="8540107" cy="954107"/>
          </a:xfrm>
          <a:prstGeom prst="rect">
            <a:avLst/>
          </a:prstGeom>
          <a:noFill/>
        </p:spPr>
        <p:txBody>
          <a:bodyPr wrap="square" rtlCol="0">
            <a:spAutoFit/>
          </a:bodyPr>
          <a:lstStyle/>
          <a:p>
            <a:pPr algn="ctr"/>
            <a:r>
              <a:rPr lang="en-US" sz="2800" b="1" dirty="0" smtClean="0">
                <a:latin typeface="Times New Roman" panose="02020603050405020304" pitchFamily="18" charset="0"/>
                <a:cs typeface="Times New Roman" panose="02020603050405020304" pitchFamily="18" charset="0"/>
              </a:rPr>
              <a:t>IOT BASED AIR QUALITY MONITORING DEVICE</a:t>
            </a:r>
            <a:endParaRPr lang="en-IN" sz="2800" b="1" dirty="0">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9" name="TextBox 8">
            <a:extLst>
              <a:ext uri="{FF2B5EF4-FFF2-40B4-BE49-F238E27FC236}">
                <a16:creationId xmlns:a16="http://schemas.microsoft.com/office/drawing/2014/main" xmlns="" id="{96B82173-9EB7-F95B-196F-33259601931B}"/>
              </a:ext>
            </a:extLst>
          </p:cNvPr>
          <p:cNvSpPr txBox="1"/>
          <p:nvPr/>
        </p:nvSpPr>
        <p:spPr>
          <a:xfrm flipH="1">
            <a:off x="2001174" y="4334103"/>
            <a:ext cx="2730845"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TEAM MEMBERS</a:t>
            </a:r>
          </a:p>
        </p:txBody>
      </p:sp>
      <p:sp>
        <p:nvSpPr>
          <p:cNvPr id="11" name="TextBox 10">
            <a:extLst>
              <a:ext uri="{FF2B5EF4-FFF2-40B4-BE49-F238E27FC236}">
                <a16:creationId xmlns:a16="http://schemas.microsoft.com/office/drawing/2014/main" xmlns="" id="{DD892A60-B08A-98D3-223F-F90A14E0A120}"/>
              </a:ext>
            </a:extLst>
          </p:cNvPr>
          <p:cNvSpPr txBox="1"/>
          <p:nvPr/>
        </p:nvSpPr>
        <p:spPr>
          <a:xfrm>
            <a:off x="5999613" y="4334103"/>
            <a:ext cx="5559927" cy="1354217"/>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GUIDED BY </a:t>
            </a:r>
          </a:p>
          <a:p>
            <a:pPr algn="ctr"/>
            <a:endParaRPr lang="en-IN" sz="2000" b="1"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    </a:t>
            </a:r>
            <a:r>
              <a:rPr lang="en-IN" sz="1800" dirty="0" err="1" smtClean="0">
                <a:effectLst/>
                <a:latin typeface="Times New Roman" panose="02020603050405020304" pitchFamily="18" charset="0"/>
                <a:ea typeface="Calibri" panose="020F0502020204030204" pitchFamily="34" charset="0"/>
              </a:rPr>
              <a:t>M</a:t>
            </a:r>
            <a:r>
              <a:rPr lang="en-IN" dirty="0" err="1" smtClean="0">
                <a:latin typeface="Times New Roman" panose="02020603050405020304" pitchFamily="18" charset="0"/>
                <a:ea typeface="Calibri" panose="020F0502020204030204" pitchFamily="34" charset="0"/>
              </a:rPr>
              <a:t>r.K.MURUGAN</a:t>
            </a:r>
            <a:r>
              <a:rPr lang="en-IN" sz="1800" dirty="0" smtClean="0">
                <a:effectLst/>
                <a:latin typeface="Times New Roman" panose="02020603050405020304" pitchFamily="18" charset="0"/>
                <a:ea typeface="Calibri" panose="020F0502020204030204" pitchFamily="34" charset="0"/>
              </a:rPr>
              <a:t>, M.</a:t>
            </a:r>
            <a:r>
              <a:rPr lang="en-IN" dirty="0" smtClean="0">
                <a:latin typeface="Times New Roman" panose="02020603050405020304" pitchFamily="18" charset="0"/>
                <a:ea typeface="Calibri" panose="020F0502020204030204" pitchFamily="34" charset="0"/>
              </a:rPr>
              <a:t>E</a:t>
            </a:r>
            <a:r>
              <a:rPr lang="en-IN" sz="1800" dirty="0" smtClean="0">
                <a:effectLst/>
                <a:latin typeface="Times New Roman" panose="02020603050405020304" pitchFamily="18" charset="0"/>
                <a:ea typeface="Calibri" panose="020F0502020204030204" pitchFamily="34" charset="0"/>
              </a:rPr>
              <a:t>.,(</a:t>
            </a:r>
            <a:r>
              <a:rPr lang="en-IN" dirty="0" err="1" smtClean="0">
                <a:latin typeface="Times New Roman" panose="02020603050405020304" pitchFamily="18" charset="0"/>
                <a:ea typeface="Calibri" panose="020F0502020204030204" pitchFamily="34" charset="0"/>
              </a:rPr>
              <a:t>P</a:t>
            </a:r>
            <a:r>
              <a:rPr lang="en-IN" sz="1800" dirty="0" err="1" smtClean="0">
                <a:effectLst/>
                <a:latin typeface="Times New Roman" panose="02020603050405020304" pitchFamily="18" charset="0"/>
                <a:ea typeface="Calibri" panose="020F0502020204030204" pitchFamily="34" charset="0"/>
              </a:rPr>
              <a:t>h.D</a:t>
            </a:r>
            <a:r>
              <a:rPr lang="en-IN" sz="1800" dirty="0" smtClean="0">
                <a:effectLst/>
                <a:latin typeface="Times New Roman" panose="02020603050405020304" pitchFamily="18" charset="0"/>
                <a:ea typeface="Calibri" panose="020F0502020204030204" pitchFamily="34" charset="0"/>
              </a:rPr>
              <a:t>)</a:t>
            </a:r>
            <a:endParaRPr lang="en-IN" sz="1800" dirty="0">
              <a:effectLst/>
              <a:latin typeface="Times New Roman" panose="02020603050405020304" pitchFamily="18" charset="0"/>
              <a:ea typeface="Calibri" panose="020F0502020204030204" pitchFamily="34" charset="0"/>
            </a:endParaRPr>
          </a:p>
          <a:p>
            <a:pPr algn="ct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Assistant </a:t>
            </a:r>
            <a:r>
              <a:rPr lang="en-IN" sz="2400" dirty="0">
                <a:latin typeface="Times New Roman" panose="02020603050405020304" pitchFamily="18" charset="0"/>
                <a:cs typeface="Times New Roman" panose="02020603050405020304" pitchFamily="18" charset="0"/>
              </a:rPr>
              <a:t>Professor/CSE</a:t>
            </a:r>
          </a:p>
        </p:txBody>
      </p:sp>
      <p:sp>
        <p:nvSpPr>
          <p:cNvPr id="2" name="TextBox 1">
            <a:extLst>
              <a:ext uri="{FF2B5EF4-FFF2-40B4-BE49-F238E27FC236}">
                <a16:creationId xmlns:a16="http://schemas.microsoft.com/office/drawing/2014/main" xmlns="" id="{5CA4C11C-97FF-A84A-6EF0-83E760D65CEA}"/>
              </a:ext>
            </a:extLst>
          </p:cNvPr>
          <p:cNvSpPr txBox="1"/>
          <p:nvPr/>
        </p:nvSpPr>
        <p:spPr>
          <a:xfrm>
            <a:off x="1283970" y="2276256"/>
            <a:ext cx="1090803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DEPARTMENT OF COMPUTER SCIENCE AND ENGINEERING</a:t>
            </a:r>
          </a:p>
        </p:txBody>
      </p:sp>
      <p:graphicFrame>
        <p:nvGraphicFramePr>
          <p:cNvPr id="3" name="Table 2">
            <a:extLst>
              <a:ext uri="{FF2B5EF4-FFF2-40B4-BE49-F238E27FC236}">
                <a16:creationId xmlns:a16="http://schemas.microsoft.com/office/drawing/2014/main" xmlns="" id="{2CE2E477-3002-0143-D634-BAE288A3ABD0}"/>
              </a:ext>
            </a:extLst>
          </p:cNvPr>
          <p:cNvGraphicFramePr>
            <a:graphicFrameLocks noGrp="1"/>
          </p:cNvGraphicFramePr>
          <p:nvPr>
            <p:extLst>
              <p:ext uri="{D42A27DB-BD31-4B8C-83A1-F6EECF244321}">
                <p14:modId xmlns:p14="http://schemas.microsoft.com/office/powerpoint/2010/main" val="319987006"/>
              </p:ext>
            </p:extLst>
          </p:nvPr>
        </p:nvGraphicFramePr>
        <p:xfrm>
          <a:off x="734960" y="4898674"/>
          <a:ext cx="5470014" cy="1463040"/>
        </p:xfrm>
        <a:graphic>
          <a:graphicData uri="http://schemas.openxmlformats.org/drawingml/2006/table">
            <a:tbl>
              <a:tblPr firstRow="1" bandRow="1">
                <a:tableStyleId>{2D5ABB26-0587-4C30-8999-92F81FD0307C}</a:tableStyleId>
              </a:tblPr>
              <a:tblGrid>
                <a:gridCol w="2735007">
                  <a:extLst>
                    <a:ext uri="{9D8B030D-6E8A-4147-A177-3AD203B41FA5}">
                      <a16:colId xmlns:a16="http://schemas.microsoft.com/office/drawing/2014/main" xmlns="" val="1071991621"/>
                    </a:ext>
                  </a:extLst>
                </a:gridCol>
                <a:gridCol w="2735007">
                  <a:extLst>
                    <a:ext uri="{9D8B030D-6E8A-4147-A177-3AD203B41FA5}">
                      <a16:colId xmlns:a16="http://schemas.microsoft.com/office/drawing/2014/main" xmlns="" val="830961800"/>
                    </a:ext>
                  </a:extLst>
                </a:gridCol>
              </a:tblGrid>
              <a:tr h="184505">
                <a:tc>
                  <a:txBody>
                    <a:bodyPr/>
                    <a:lstStyle/>
                    <a:p>
                      <a:r>
                        <a:rPr lang="en-US" dirty="0" smtClean="0">
                          <a:latin typeface="Times New Roman" panose="02020603050405020304" pitchFamily="18" charset="0"/>
                          <a:cs typeface="Times New Roman" panose="02020603050405020304" pitchFamily="18" charset="0"/>
                        </a:rPr>
                        <a:t>BHAVADHARANI</a:t>
                      </a:r>
                      <a:r>
                        <a:rPr lang="en-US" baseline="0" dirty="0" smtClean="0">
                          <a:latin typeface="Times New Roman" panose="02020603050405020304" pitchFamily="18" charset="0"/>
                          <a:cs typeface="Times New Roman" panose="02020603050405020304" pitchFamily="18" charset="0"/>
                        </a:rPr>
                        <a:t> R</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720823103030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170744913"/>
                  </a:ext>
                </a:extLst>
              </a:tr>
              <a:tr h="184505">
                <a:tc>
                  <a:txBody>
                    <a:bodyPr/>
                    <a:lstStyle/>
                    <a:p>
                      <a:r>
                        <a:rPr lang="en-US" dirty="0" smtClean="0">
                          <a:latin typeface="Times New Roman" panose="02020603050405020304" pitchFamily="18" charset="0"/>
                          <a:cs typeface="Times New Roman" panose="02020603050405020304" pitchFamily="18" charset="0"/>
                        </a:rPr>
                        <a:t>ALAGUMALAI</a:t>
                      </a:r>
                      <a:r>
                        <a:rPr lang="en-US" baseline="0" dirty="0" smtClean="0">
                          <a:latin typeface="Times New Roman" panose="02020603050405020304" pitchFamily="18" charset="0"/>
                          <a:cs typeface="Times New Roman" panose="02020603050405020304" pitchFamily="18" charset="0"/>
                        </a:rPr>
                        <a:t> M</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720823103014</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271427979"/>
                  </a:ext>
                </a:extLst>
              </a:tr>
              <a:tr h="184505">
                <a:tc>
                  <a:txBody>
                    <a:bodyPr/>
                    <a:lstStyle/>
                    <a:p>
                      <a:r>
                        <a:rPr lang="en-US" dirty="0" smtClean="0">
                          <a:latin typeface="Times New Roman" panose="02020603050405020304" pitchFamily="18" charset="0"/>
                          <a:cs typeface="Times New Roman" panose="02020603050405020304" pitchFamily="18" charset="0"/>
                        </a:rPr>
                        <a:t>ARUN</a:t>
                      </a:r>
                      <a:r>
                        <a:rPr lang="en-US" baseline="0" dirty="0" smtClean="0">
                          <a:latin typeface="Times New Roman" panose="02020603050405020304" pitchFamily="18" charset="0"/>
                          <a:cs typeface="Times New Roman" panose="02020603050405020304" pitchFamily="18" charset="0"/>
                        </a:rPr>
                        <a:t> KUMAR B</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720823103022</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669462524"/>
                  </a:ext>
                </a:extLst>
              </a:tr>
              <a:tr h="184505">
                <a:tc>
                  <a:txBody>
                    <a:bodyPr/>
                    <a:lstStyle/>
                    <a:p>
                      <a:r>
                        <a:rPr lang="en-US" dirty="0" smtClean="0">
                          <a:latin typeface="Times New Roman" panose="02020603050405020304" pitchFamily="18" charset="0"/>
                          <a:cs typeface="Times New Roman" panose="02020603050405020304" pitchFamily="18" charset="0"/>
                        </a:rPr>
                        <a:t>HARISH</a:t>
                      </a:r>
                      <a:r>
                        <a:rPr lang="en-US" baseline="0" dirty="0" smtClean="0">
                          <a:latin typeface="Times New Roman" panose="02020603050405020304" pitchFamily="18" charset="0"/>
                          <a:cs typeface="Times New Roman" panose="02020603050405020304" pitchFamily="18" charset="0"/>
                        </a:rPr>
                        <a:t> J</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smtClean="0">
                          <a:latin typeface="Times New Roman" panose="02020603050405020304" pitchFamily="18" charset="0"/>
                          <a:cs typeface="Times New Roman" panose="02020603050405020304" pitchFamily="18" charset="0"/>
                        </a:rPr>
                        <a:t>720823103055</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17105020"/>
                  </a:ext>
                </a:extLst>
              </a:tr>
            </a:tbl>
          </a:graphicData>
        </a:graphic>
      </p:graphicFrame>
      <p:pic>
        <p:nvPicPr>
          <p:cNvPr id="10" name="Picture 9">
            <a:extLst>
              <a:ext uri="{FF2B5EF4-FFF2-40B4-BE49-F238E27FC236}">
                <a16:creationId xmlns:a16="http://schemas.microsoft.com/office/drawing/2014/main" xmlns="" id="{47369634-239C-460A-7328-2E64C69A9F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40087" y="264805"/>
            <a:ext cx="1619250" cy="904875"/>
          </a:xfrm>
          <a:prstGeom prst="rect">
            <a:avLst/>
          </a:prstGeom>
        </p:spPr>
      </p:pic>
    </p:spTree>
    <p:extLst>
      <p:ext uri="{BB962C8B-B14F-4D97-AF65-F5344CB8AC3E}">
        <p14:creationId xmlns:p14="http://schemas.microsoft.com/office/powerpoint/2010/main" val="35655230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A2DD40B8-B5A8-C1D1-2D49-498BF089FF96}"/>
              </a:ext>
            </a:extLst>
          </p:cNvPr>
          <p:cNvSpPr txBox="1"/>
          <p:nvPr/>
        </p:nvSpPr>
        <p:spPr>
          <a:xfrm>
            <a:off x="4823214" y="401041"/>
            <a:ext cx="3246120" cy="492443"/>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xmlns="" id="{2BD3F527-C1D3-84D3-7647-1797DD59A469}"/>
              </a:ext>
            </a:extLst>
          </p:cNvPr>
          <p:cNvSpPr txBox="1"/>
          <p:nvPr/>
        </p:nvSpPr>
        <p:spPr>
          <a:xfrm>
            <a:off x="924232" y="1611814"/>
            <a:ext cx="10343536" cy="3724096"/>
          </a:xfrm>
          <a:prstGeom prst="rect">
            <a:avLst/>
          </a:prstGeom>
          <a:noFill/>
        </p:spPr>
        <p:txBody>
          <a:bodyPr wrap="square" rtlCol="0">
            <a:spAutoFit/>
          </a:bodyPr>
          <a:lstStyle/>
          <a:p>
            <a:endParaRPr lang="en-IN" sz="20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Air pollution is a serious environmental issue that affects human health and daily life. This project presents an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-based smart air quality monitoring system that provides real-time information about pollution levels. The system uses the MQ-135 Gas Sensor to detect harmful gases such as carbon dioxide, ammonia, and smoke. It also uses the DHT11 Temperature and Humidity Sensor to measure temperature and humidity in the environment</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collected data is processed using a microcontroller like </a:t>
            </a:r>
            <a:r>
              <a:rPr lang="en-US" dirty="0" err="1">
                <a:latin typeface="Times New Roman" panose="02020603050405020304" pitchFamily="18" charset="0"/>
                <a:cs typeface="Times New Roman" panose="02020603050405020304" pitchFamily="18" charset="0"/>
              </a:rPr>
              <a:t>Arduino</a:t>
            </a:r>
            <a:r>
              <a:rPr lang="en-US" dirty="0">
                <a:latin typeface="Times New Roman" panose="02020603050405020304" pitchFamily="18" charset="0"/>
                <a:cs typeface="Times New Roman" panose="02020603050405020304" pitchFamily="18" charset="0"/>
              </a:rPr>
              <a:t> or ESP8266 and is transmitted to a web dashboard for easy monitoring. The system also includes an alert mechanism using LEDs or a buzzer to warn users when pollution levels exceed safe limits. This helps users take necessary precautions</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proposed system is low-cost, easy to implement, and suitable for use in homes, schools, and offices, making it an effective solution for air quality monitoring.</a:t>
            </a:r>
          </a:p>
        </p:txBody>
      </p:sp>
    </p:spTree>
    <p:extLst>
      <p:ext uri="{BB962C8B-B14F-4D97-AF65-F5344CB8AC3E}">
        <p14:creationId xmlns:p14="http://schemas.microsoft.com/office/powerpoint/2010/main" val="40831740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7A49B6BC-0B09-4FF5-8D0E-1AAF1785688D}"/>
              </a:ext>
            </a:extLst>
          </p:cNvPr>
          <p:cNvSpPr txBox="1"/>
          <p:nvPr/>
        </p:nvSpPr>
        <p:spPr>
          <a:xfrm>
            <a:off x="4632960" y="982980"/>
            <a:ext cx="2926080" cy="492443"/>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xmlns="" id="{CDF735DC-2FAD-7DA5-BC8F-5AE038503FEB}"/>
              </a:ext>
            </a:extLst>
          </p:cNvPr>
          <p:cNvSpPr txBox="1"/>
          <p:nvPr/>
        </p:nvSpPr>
        <p:spPr>
          <a:xfrm>
            <a:off x="1165860" y="1904702"/>
            <a:ext cx="9860280" cy="3693319"/>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Air </a:t>
            </a:r>
            <a:r>
              <a:rPr lang="en-US" dirty="0">
                <a:latin typeface="Times New Roman" panose="02020603050405020304" pitchFamily="18" charset="0"/>
                <a:cs typeface="Times New Roman" panose="02020603050405020304" pitchFamily="18" charset="0"/>
              </a:rPr>
              <a:t>pollution is a major environmental problem that affects human health and the quality of life</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There </a:t>
            </a:r>
            <a:r>
              <a:rPr lang="en-US" dirty="0">
                <a:latin typeface="Times New Roman" panose="02020603050405020304" pitchFamily="18" charset="0"/>
                <a:cs typeface="Times New Roman" panose="02020603050405020304" pitchFamily="18" charset="0"/>
              </a:rPr>
              <a:t>is a growing need for real-time air quality monitoring systems in homes, schools, and workplaces</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project uses sensors like the MQ-135 Gas Sensor to detect harmful gases in the air</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Environmental </a:t>
            </a:r>
            <a:r>
              <a:rPr lang="en-US" dirty="0">
                <a:latin typeface="Times New Roman" panose="02020603050405020304" pitchFamily="18" charset="0"/>
                <a:cs typeface="Times New Roman" panose="02020603050405020304" pitchFamily="18" charset="0"/>
              </a:rPr>
              <a:t>parameters such as temperature and humidity are measured using the DHT11 Temperature and Humidity Sensor</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system provides real-time data and alerts, helping users monitor air quality and take preventive actions.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27032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40D37C22-A7FD-BFF0-25ED-6E2963D20800}"/>
              </a:ext>
            </a:extLst>
          </p:cNvPr>
          <p:cNvSpPr txBox="1"/>
          <p:nvPr/>
        </p:nvSpPr>
        <p:spPr>
          <a:xfrm>
            <a:off x="4312920" y="800100"/>
            <a:ext cx="3566160" cy="492443"/>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EXISTING SYSTEM</a:t>
            </a:r>
          </a:p>
        </p:txBody>
      </p:sp>
      <p:sp>
        <p:nvSpPr>
          <p:cNvPr id="8" name="Rectangle 7"/>
          <p:cNvSpPr/>
          <p:nvPr/>
        </p:nvSpPr>
        <p:spPr>
          <a:xfrm>
            <a:off x="2718816" y="2240941"/>
            <a:ext cx="7824216" cy="2585323"/>
          </a:xfrm>
          <a:prstGeom prst="rect">
            <a:avLst/>
          </a:prstGeom>
        </p:spPr>
        <p:txBody>
          <a:bodyPr wrap="square">
            <a:spAutoFit/>
          </a:bodyPr>
          <a:lstStyle/>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Traditional air quality monitoring systems are large and expensive. </a:t>
            </a:r>
            <a:endParaRPr lang="en-US"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They are mainly used by government organizations. </a:t>
            </a:r>
            <a:endParaRPr lang="en-US"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Monitoring is limited to specific locations only. </a:t>
            </a:r>
            <a:endParaRPr lang="en-US"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They do not provide real-time data for common users</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They lack portable and user-friendly features. </a:t>
            </a:r>
          </a:p>
        </p:txBody>
      </p:sp>
    </p:spTree>
    <p:extLst>
      <p:ext uri="{BB962C8B-B14F-4D97-AF65-F5344CB8AC3E}">
        <p14:creationId xmlns:p14="http://schemas.microsoft.com/office/powerpoint/2010/main" val="33345918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2D701918-5EA5-9034-9767-2BD4039BC983}"/>
              </a:ext>
            </a:extLst>
          </p:cNvPr>
          <p:cNvSpPr txBox="1"/>
          <p:nvPr/>
        </p:nvSpPr>
        <p:spPr>
          <a:xfrm>
            <a:off x="4187190" y="587595"/>
            <a:ext cx="3726180" cy="492443"/>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PROPOSED SYSTEM</a:t>
            </a:r>
          </a:p>
        </p:txBody>
      </p:sp>
      <p:sp>
        <p:nvSpPr>
          <p:cNvPr id="12" name="Rectangle 9"/>
          <p:cNvSpPr>
            <a:spLocks noChangeArrowheads="1"/>
          </p:cNvSpPr>
          <p:nvPr/>
        </p:nvSpPr>
        <p:spPr bwMode="auto">
          <a:xfrm>
            <a:off x="1929384" y="1656834"/>
            <a:ext cx="896598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system is a </a:t>
            </a: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low-cost </a:t>
            </a:r>
            <a:r>
              <a:rPr kumimoji="0" lang="en-US" sz="18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IoT</a:t>
            </a: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-based air quality monitoring system.</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detects pollution levels using the </a:t>
            </a: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MQ-135 Gas Sensor</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measures temperature and humidity using the </a:t>
            </a: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DHT11 Temperature and Humidity Sensor.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data is processed by a microcontroller and displayed on a </a:t>
            </a: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web dashboard.</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provides </a:t>
            </a: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real-time monitoring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of air quality.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An </a:t>
            </a:r>
            <a:r>
              <a:rPr kumimoji="0" lang="en-US" sz="18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alert system (LED/Buzzer</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notifies users when pollution levels exceed safe limits. </a:t>
            </a:r>
          </a:p>
        </p:txBody>
      </p:sp>
    </p:spTree>
    <p:extLst>
      <p:ext uri="{BB962C8B-B14F-4D97-AF65-F5344CB8AC3E}">
        <p14:creationId xmlns:p14="http://schemas.microsoft.com/office/powerpoint/2010/main" val="2208589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35221" y="153662"/>
            <a:ext cx="3560205" cy="461665"/>
          </a:xfrm>
          <a:prstGeom prst="rect">
            <a:avLst/>
          </a:prstGeom>
        </p:spPr>
        <p:txBody>
          <a:bodyPr wrap="none">
            <a:spAutoFit/>
          </a:bodyPr>
          <a:lstStyle/>
          <a:p>
            <a:r>
              <a:rPr lang="en-US" sz="2400" b="1" dirty="0" smtClean="0">
                <a:latin typeface="Times New Roman" panose="02020603050405020304" pitchFamily="18" charset="0"/>
                <a:cs typeface="Times New Roman" panose="02020603050405020304" pitchFamily="18" charset="0"/>
              </a:rPr>
              <a:t>LITERATURE REVIEW</a:t>
            </a:r>
            <a:endParaRPr lang="en-IN" sz="2400" dirty="0"/>
          </a:p>
        </p:txBody>
      </p:sp>
      <p:graphicFrame>
        <p:nvGraphicFramePr>
          <p:cNvPr id="7" name="Table 6"/>
          <p:cNvGraphicFramePr>
            <a:graphicFrameLocks noGrp="1"/>
          </p:cNvGraphicFramePr>
          <p:nvPr>
            <p:extLst>
              <p:ext uri="{D42A27DB-BD31-4B8C-83A1-F6EECF244321}">
                <p14:modId xmlns:p14="http://schemas.microsoft.com/office/powerpoint/2010/main" val="3229438556"/>
              </p:ext>
            </p:extLst>
          </p:nvPr>
        </p:nvGraphicFramePr>
        <p:xfrm>
          <a:off x="749808" y="761631"/>
          <a:ext cx="10570464" cy="5723766"/>
        </p:xfrm>
        <a:graphic>
          <a:graphicData uri="http://schemas.openxmlformats.org/drawingml/2006/table">
            <a:tbl>
              <a:tblPr>
                <a:tableStyleId>{35758FB7-9AC5-4552-8A53-C91805E547FA}</a:tableStyleId>
              </a:tblPr>
              <a:tblGrid>
                <a:gridCol w="2642616"/>
                <a:gridCol w="2642616"/>
                <a:gridCol w="2642616"/>
                <a:gridCol w="2642616"/>
              </a:tblGrid>
              <a:tr h="224076">
                <a:tc>
                  <a:txBody>
                    <a:bodyPr/>
                    <a:lstStyle/>
                    <a:p>
                      <a:r>
                        <a:rPr lang="en-IN" sz="1400" b="1" dirty="0">
                          <a:latin typeface="Times New Roman" panose="02020603050405020304" pitchFamily="18" charset="0"/>
                          <a:cs typeface="Times New Roman" panose="02020603050405020304" pitchFamily="18" charset="0"/>
                        </a:rPr>
                        <a:t>Author(s) &amp; Year</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dirty="0">
                          <a:latin typeface="Times New Roman" panose="02020603050405020304" pitchFamily="18" charset="0"/>
                          <a:cs typeface="Times New Roman" panose="02020603050405020304" pitchFamily="18" charset="0"/>
                        </a:rPr>
                        <a:t>Title</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dirty="0">
                          <a:latin typeface="Times New Roman" panose="02020603050405020304" pitchFamily="18" charset="0"/>
                          <a:cs typeface="Times New Roman" panose="02020603050405020304" pitchFamily="18" charset="0"/>
                        </a:rPr>
                        <a:t>Description</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dirty="0">
                          <a:latin typeface="Times New Roman" panose="02020603050405020304" pitchFamily="18" charset="0"/>
                          <a:cs typeface="Times New Roman" panose="02020603050405020304" pitchFamily="18" charset="0"/>
                        </a:rPr>
                        <a:t>Limitations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0191">
                <a:tc>
                  <a:txBody>
                    <a:bodyPr/>
                    <a:lstStyle/>
                    <a:p>
                      <a:r>
                        <a:rPr lang="en-IN" sz="1400" dirty="0">
                          <a:latin typeface="Times New Roman" panose="02020603050405020304" pitchFamily="18" charset="0"/>
                          <a:cs typeface="Times New Roman" panose="02020603050405020304" pitchFamily="18" charset="0"/>
                        </a:rPr>
                        <a:t>IEEE Access (2024)</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IoT-Based Smart Air Quality Monitoring System Using ESP8266</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Developed a real-time monitoring system using ESP8266 and gas sensors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Limited accuracy due to low-cost sensors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0191">
                <a:tc>
                  <a:txBody>
                    <a:bodyPr/>
                    <a:lstStyle/>
                    <a:p>
                      <a:r>
                        <a:rPr lang="en-IN" sz="1400" dirty="0">
                          <a:latin typeface="Times New Roman" panose="02020603050405020304" pitchFamily="18" charset="0"/>
                          <a:cs typeface="Times New Roman" panose="02020603050405020304" pitchFamily="18" charset="0"/>
                        </a:rPr>
                        <a:t>Elsevier (2024)</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Real-Time Air Quality Monitoring Using Low-Cost Sensors and IoT</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latin typeface="Times New Roman" panose="02020603050405020304" pitchFamily="18" charset="0"/>
                          <a:cs typeface="Times New Roman" panose="02020603050405020304" pitchFamily="18" charset="0"/>
                        </a:rPr>
                        <a:t>Focuses on affordable sensors for continuous air monitoring</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Calibration issues and environmental impact on readings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0191">
                <a:tc>
                  <a:txBody>
                    <a:bodyPr/>
                    <a:lstStyle/>
                    <a:p>
                      <a:r>
                        <a:rPr lang="en-IN" sz="1400" dirty="0">
                          <a:latin typeface="Times New Roman" panose="02020603050405020304" pitchFamily="18" charset="0"/>
                          <a:cs typeface="Times New Roman" panose="02020603050405020304" pitchFamily="18" charset="0"/>
                        </a:rPr>
                        <a:t>Springer (2024)</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Air Pollution Monitoring System Using </a:t>
                      </a:r>
                      <a:r>
                        <a:rPr lang="en-US" sz="1400" dirty="0" err="1">
                          <a:latin typeface="Times New Roman" panose="02020603050405020304" pitchFamily="18" charset="0"/>
                          <a:cs typeface="Times New Roman" panose="02020603050405020304" pitchFamily="18" charset="0"/>
                        </a:rPr>
                        <a:t>IoT</a:t>
                      </a:r>
                      <a:r>
                        <a:rPr lang="en-US" sz="1400" dirty="0">
                          <a:latin typeface="Times New Roman" panose="02020603050405020304" pitchFamily="18" charset="0"/>
                          <a:cs typeface="Times New Roman" panose="02020603050405020304" pitchFamily="18" charset="0"/>
                        </a:rPr>
                        <a:t> and Cloud</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Uses cloud for data storage and visualization</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Requires stable internet and increases complexity</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0191">
                <a:tc>
                  <a:txBody>
                    <a:bodyPr/>
                    <a:lstStyle/>
                    <a:p>
                      <a:r>
                        <a:rPr lang="en-IN" sz="1400">
                          <a:latin typeface="Times New Roman" panose="02020603050405020304" pitchFamily="18" charset="0"/>
                          <a:cs typeface="Times New Roman" panose="02020603050405020304" pitchFamily="18" charset="0"/>
                        </a:rPr>
                        <a:t>IEEE Sensors Journal (2025)</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Wireless Sensor Network-Based Air Quality Monitoring</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Uses multiple sensors and wireless communication</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High power consumption and maintenance cost</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2133">
                <a:tc>
                  <a:txBody>
                    <a:bodyPr/>
                    <a:lstStyle/>
                    <a:p>
                      <a:r>
                        <a:rPr lang="en-IN" sz="1400">
                          <a:latin typeface="Times New Roman" panose="02020603050405020304" pitchFamily="18" charset="0"/>
                          <a:cs typeface="Times New Roman" panose="02020603050405020304" pitchFamily="18" charset="0"/>
                        </a:rPr>
                        <a:t>Elsevier (2024)</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Indoor Air Quality Monitoring Using </a:t>
                      </a:r>
                      <a:r>
                        <a:rPr lang="en-US" sz="1400" dirty="0" err="1">
                          <a:latin typeface="Times New Roman" panose="02020603050405020304" pitchFamily="18" charset="0"/>
                          <a:cs typeface="Times New Roman" panose="02020603050405020304" pitchFamily="18" charset="0"/>
                        </a:rPr>
                        <a:t>IoT</a:t>
                      </a:r>
                      <a:endParaRPr lang="en-US" sz="1400" dirty="0">
                        <a:latin typeface="Times New Roman" panose="02020603050405020304" pitchFamily="18" charset="0"/>
                        <a:cs typeface="Times New Roman" panose="02020603050405020304" pitchFamily="18" charset="0"/>
                      </a:endParaRP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Monitors indoor pollution levels using IoT devices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Limited to indoor environments only</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0191">
                <a:tc>
                  <a:txBody>
                    <a:bodyPr/>
                    <a:lstStyle/>
                    <a:p>
                      <a:r>
                        <a:rPr lang="en-IN" sz="1400">
                          <a:latin typeface="Times New Roman" panose="02020603050405020304" pitchFamily="18" charset="0"/>
                          <a:cs typeface="Times New Roman" panose="02020603050405020304" pitchFamily="18" charset="0"/>
                        </a:rPr>
                        <a:t>IEEE IoT Journal (2025)</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IoT and AI-Based Air Quality Prediction System</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Combines </a:t>
                      </a:r>
                      <a:r>
                        <a:rPr lang="en-US" sz="1400" dirty="0" err="1">
                          <a:latin typeface="Times New Roman" panose="02020603050405020304" pitchFamily="18" charset="0"/>
                          <a:cs typeface="Times New Roman" panose="02020603050405020304" pitchFamily="18" charset="0"/>
                        </a:rPr>
                        <a:t>IoT</a:t>
                      </a:r>
                      <a:r>
                        <a:rPr lang="en-US" sz="1400" dirty="0">
                          <a:latin typeface="Times New Roman" panose="02020603050405020304" pitchFamily="18" charset="0"/>
                          <a:cs typeface="Times New Roman" panose="02020603050405020304" pitchFamily="18" charset="0"/>
                        </a:rPr>
                        <a:t> with AI for prediction of pollution trends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Complex implementation and higher cost</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0191">
                <a:tc>
                  <a:txBody>
                    <a:bodyPr/>
                    <a:lstStyle/>
                    <a:p>
                      <a:r>
                        <a:rPr lang="en-IN" sz="1400">
                          <a:latin typeface="Times New Roman" panose="02020603050405020304" pitchFamily="18" charset="0"/>
                          <a:cs typeface="Times New Roman" panose="02020603050405020304" pitchFamily="18" charset="0"/>
                        </a:rPr>
                        <a:t>Springer (2025)</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Smart Environmental Monitoring Using IoT</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Integrates multiple environmental parameters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Requires large data handling and processing</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2133">
                <a:tc>
                  <a:txBody>
                    <a:bodyPr/>
                    <a:lstStyle/>
                    <a:p>
                      <a:r>
                        <a:rPr lang="en-IN" sz="1400">
                          <a:latin typeface="Times New Roman" panose="02020603050405020304" pitchFamily="18" charset="0"/>
                          <a:cs typeface="Times New Roman" panose="02020603050405020304" pitchFamily="18" charset="0"/>
                        </a:rPr>
                        <a:t>IJITEE (2024)</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IoT-Based Air Quality Monitoring Using Arduino</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Simple system using Arduino and sensors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No remote access and limited scalability</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2133">
                <a:tc>
                  <a:txBody>
                    <a:bodyPr/>
                    <a:lstStyle/>
                    <a:p>
                      <a:r>
                        <a:rPr lang="en-IN" sz="1400">
                          <a:latin typeface="Times New Roman" panose="02020603050405020304" pitchFamily="18" charset="0"/>
                          <a:cs typeface="Times New Roman" panose="02020603050405020304" pitchFamily="18" charset="0"/>
                        </a:rPr>
                        <a:t>Elsevier (2024)</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latin typeface="Times New Roman" panose="02020603050405020304" pitchFamily="18" charset="0"/>
                          <a:cs typeface="Times New Roman" panose="02020603050405020304" pitchFamily="18" charset="0"/>
                        </a:rPr>
                        <a:t>Multi-Gas Monitoring System Using IoT</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Detects multiple gases for environmental safety</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Times New Roman" panose="02020603050405020304" pitchFamily="18" charset="0"/>
                          <a:cs typeface="Times New Roman" panose="02020603050405020304" pitchFamily="18" charset="0"/>
                        </a:rPr>
                        <a:t>Sensor cross-sensitivity affects accuracy</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60191">
                <a:tc>
                  <a:txBody>
                    <a:bodyPr/>
                    <a:lstStyle/>
                    <a:p>
                      <a:r>
                        <a:rPr lang="en-IN" sz="1400" dirty="0">
                          <a:latin typeface="Times New Roman" panose="02020603050405020304" pitchFamily="18" charset="0"/>
                          <a:cs typeface="Times New Roman" panose="02020603050405020304" pitchFamily="18" charset="0"/>
                        </a:rPr>
                        <a:t>IEEE Access (2025)</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Cloud-Based Air Quality Monitoring System</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Provides remote monitoring through cloud platforms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Dependency on internet and security concerns</a:t>
                      </a:r>
                    </a:p>
                  </a:txBody>
                  <a:tcPr marL="45804" marR="45804" marT="22902" marB="22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8357504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60C256-61A5-235F-8F6A-C9AB9997D726}"/>
              </a:ext>
            </a:extLst>
          </p:cNvPr>
          <p:cNvSpPr>
            <a:spLocks noGrp="1"/>
          </p:cNvSpPr>
          <p:nvPr>
            <p:ph type="title"/>
          </p:nvPr>
        </p:nvSpPr>
        <p:spPr>
          <a:xfrm>
            <a:off x="566894" y="-217225"/>
            <a:ext cx="10515600" cy="1325563"/>
          </a:xfrm>
        </p:spPr>
        <p:txBody>
          <a:bodyPr>
            <a:normAutofit/>
          </a:bodyPr>
          <a:lstStyle/>
          <a:p>
            <a:pPr algn="ctr"/>
            <a:r>
              <a:rPr lang="en-IN" sz="2400" b="1" dirty="0">
                <a:latin typeface="Times New Roman" panose="02020603050405020304" pitchFamily="18" charset="0"/>
                <a:cs typeface="Times New Roman" panose="02020603050405020304" pitchFamily="18" charset="0"/>
              </a:rPr>
              <a:t>ARCHITECTURE</a:t>
            </a:r>
          </a:p>
        </p:txBody>
      </p:sp>
      <p:sp>
        <p:nvSpPr>
          <p:cNvPr id="6" name="Slide Number Placeholder 5">
            <a:extLst>
              <a:ext uri="{FF2B5EF4-FFF2-40B4-BE49-F238E27FC236}">
                <a16:creationId xmlns:a16="http://schemas.microsoft.com/office/drawing/2014/main" xmlns="" id="{E59AC493-33ED-A8BB-1066-712C964B87ED}"/>
              </a:ext>
            </a:extLst>
          </p:cNvPr>
          <p:cNvSpPr>
            <a:spLocks noGrp="1"/>
          </p:cNvSpPr>
          <p:nvPr>
            <p:ph type="sldNum" sz="quarter" idx="12"/>
          </p:nvPr>
        </p:nvSpPr>
        <p:spPr/>
        <p:txBody>
          <a:bodyPr/>
          <a:lstStyle/>
          <a:p>
            <a:fld id="{33E21CDD-31EC-4C8F-961C-0F4A3D7870DF}" type="slidenum">
              <a:rPr lang="en-IN" smtClean="0"/>
              <a:t>7</a:t>
            </a:fld>
            <a:endParaRPr lang="en-IN" dirty="0"/>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1223" t="2931" r="444" b="1340"/>
          <a:stretch/>
        </p:blipFill>
        <p:spPr>
          <a:xfrm>
            <a:off x="1865376" y="1280160"/>
            <a:ext cx="8092440" cy="4572000"/>
          </a:xfrm>
          <a:prstGeom prst="rect">
            <a:avLst/>
          </a:prstGeom>
        </p:spPr>
      </p:pic>
    </p:spTree>
    <p:extLst>
      <p:ext uri="{BB962C8B-B14F-4D97-AF65-F5344CB8AC3E}">
        <p14:creationId xmlns:p14="http://schemas.microsoft.com/office/powerpoint/2010/main" val="26184008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21A2136-99E1-86C7-3FFE-5586C2B28C65}"/>
              </a:ext>
            </a:extLst>
          </p:cNvPr>
          <p:cNvSpPr txBox="1"/>
          <p:nvPr/>
        </p:nvSpPr>
        <p:spPr>
          <a:xfrm>
            <a:off x="3947160" y="766763"/>
            <a:ext cx="4297680" cy="492443"/>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MODULES DESCRIPTION</a:t>
            </a:r>
          </a:p>
        </p:txBody>
      </p:sp>
      <p:sp>
        <p:nvSpPr>
          <p:cNvPr id="5" name="Rectangle 2">
            <a:extLst>
              <a:ext uri="{FF2B5EF4-FFF2-40B4-BE49-F238E27FC236}">
                <a16:creationId xmlns:a16="http://schemas.microsoft.com/office/drawing/2014/main" xmlns="" id="{8E4152DD-CCED-2673-F897-0F892A6F89B9}"/>
              </a:ext>
            </a:extLst>
          </p:cNvPr>
          <p:cNvSpPr>
            <a:spLocks noChangeArrowheads="1"/>
          </p:cNvSpPr>
          <p:nvPr/>
        </p:nvSpPr>
        <p:spPr bwMode="auto">
          <a:xfrm rot="10800000" flipV="1">
            <a:off x="880970" y="1848741"/>
            <a:ext cx="10576461" cy="438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Sensing Module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This </a:t>
            </a:r>
            <a:r>
              <a:rPr lang="en-US" dirty="0">
                <a:latin typeface="Times New Roman" panose="02020603050405020304" pitchFamily="18" charset="0"/>
                <a:cs typeface="Times New Roman" panose="02020603050405020304" pitchFamily="18" charset="0"/>
              </a:rPr>
              <a:t>module includes sensors like the MQ-135 Gas Sensor and DHT11 Temperature and Humidity Sensor. It </a:t>
            </a:r>
            <a:r>
              <a:rPr lang="en-US" dirty="0" smtClean="0">
                <a:latin typeface="Times New Roman" panose="02020603050405020304" pitchFamily="18" charset="0"/>
                <a:cs typeface="Times New Roman" panose="02020603050405020304" pitchFamily="18" charset="0"/>
              </a:rPr>
              <a:t>is </a:t>
            </a:r>
            <a:r>
              <a:rPr lang="en-US" dirty="0">
                <a:latin typeface="Times New Roman" panose="02020603050405020304" pitchFamily="18" charset="0"/>
                <a:cs typeface="Times New Roman" panose="02020603050405020304" pitchFamily="18" charset="0"/>
              </a:rPr>
              <a:t>responsible for detecting air pollution levels, temperature, and humidity from the environment</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Processing </a:t>
            </a:r>
            <a:r>
              <a:rPr lang="en-US" b="1" dirty="0" smtClean="0">
                <a:latin typeface="Times New Roman" panose="02020603050405020304" pitchFamily="18" charset="0"/>
                <a:cs typeface="Times New Roman" panose="02020603050405020304" pitchFamily="18" charset="0"/>
              </a:rPr>
              <a:t>Module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This module uses a microcontroller (ESP8266) to read sensor data and process it into meaningful values such as air quality level.</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Communication </a:t>
            </a:r>
            <a:r>
              <a:rPr lang="en-US" b="1" dirty="0" smtClean="0">
                <a:latin typeface="Times New Roman" panose="02020603050405020304" pitchFamily="18" charset="0"/>
                <a:cs typeface="Times New Roman" panose="02020603050405020304" pitchFamily="18" charset="0"/>
              </a:rPr>
              <a:t>Module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The </a:t>
            </a:r>
            <a:r>
              <a:rPr lang="en-US" dirty="0" err="1">
                <a:latin typeface="Times New Roman" panose="02020603050405020304" pitchFamily="18" charset="0"/>
                <a:cs typeface="Times New Roman" panose="02020603050405020304" pitchFamily="18" charset="0"/>
              </a:rPr>
              <a:t>WiFi</a:t>
            </a:r>
            <a:r>
              <a:rPr lang="en-US" dirty="0">
                <a:latin typeface="Times New Roman" panose="02020603050405020304" pitchFamily="18" charset="0"/>
                <a:cs typeface="Times New Roman" panose="02020603050405020304" pitchFamily="18" charset="0"/>
              </a:rPr>
              <a:t> module (ESP8266) is used to transmit the processed data to a web server for remote monitoring</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Display Module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This </a:t>
            </a:r>
            <a:r>
              <a:rPr lang="en-US" dirty="0">
                <a:latin typeface="Times New Roman" panose="02020603050405020304" pitchFamily="18" charset="0"/>
                <a:cs typeface="Times New Roman" panose="02020603050405020304" pitchFamily="18" charset="0"/>
              </a:rPr>
              <a:t>module shows the air quality data on a web dashboard or mobile/laptop screen for user understanding</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Alert Module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This </a:t>
            </a:r>
            <a:r>
              <a:rPr lang="en-US" dirty="0">
                <a:latin typeface="Times New Roman" panose="02020603050405020304" pitchFamily="18" charset="0"/>
                <a:cs typeface="Times New Roman" panose="02020603050405020304" pitchFamily="18" charset="0"/>
              </a:rPr>
              <a:t>module includes LED and buzzer to alert users when the pollution level exceeds the safe limit.</a:t>
            </a:r>
          </a:p>
          <a:p>
            <a:pPr marL="0" marR="0" lvl="0" indent="0"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07303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B79D6F6-DBA8-48DF-05B1-9AF44038216B}"/>
              </a:ext>
            </a:extLst>
          </p:cNvPr>
          <p:cNvSpPr txBox="1"/>
          <p:nvPr/>
        </p:nvSpPr>
        <p:spPr>
          <a:xfrm>
            <a:off x="1604010" y="640080"/>
            <a:ext cx="8983980" cy="892552"/>
          </a:xfrm>
          <a:prstGeom prst="rect">
            <a:avLst/>
          </a:prstGeom>
          <a:noFill/>
        </p:spPr>
        <p:txBody>
          <a:bodyPr wrap="square" rtlCol="0">
            <a:spAutoFit/>
          </a:bodyPr>
          <a:lstStyle/>
          <a:p>
            <a:pPr algn="ctr">
              <a:lnSpc>
                <a:spcPct val="100000"/>
              </a:lnSpc>
            </a:pPr>
            <a:r>
              <a:rPr lang="en-IN" sz="2600" b="1" dirty="0">
                <a:solidFill>
                  <a:srgbClr val="000000"/>
                </a:solidFill>
                <a:latin typeface="Times New Roman" panose="02020603050405020304"/>
              </a:rPr>
              <a:t>SUSTAINABLE DEVELOPMENT GOALS ADHERED AND JUSTIFICATION</a:t>
            </a:r>
            <a:endParaRPr lang="en-IN" sz="2600" dirty="0">
              <a:solidFill>
                <a:srgbClr val="000000"/>
              </a:solidFill>
              <a:latin typeface="Arial" panose="020B0604020202020204"/>
            </a:endParaRPr>
          </a:p>
        </p:txBody>
      </p:sp>
      <p:sp>
        <p:nvSpPr>
          <p:cNvPr id="3" name="TextBox 2">
            <a:extLst>
              <a:ext uri="{FF2B5EF4-FFF2-40B4-BE49-F238E27FC236}">
                <a16:creationId xmlns:a16="http://schemas.microsoft.com/office/drawing/2014/main" xmlns="" id="{56005ECE-83F3-B322-CF1A-BDECB4BB7BA6}"/>
              </a:ext>
            </a:extLst>
          </p:cNvPr>
          <p:cNvSpPr txBox="1"/>
          <p:nvPr/>
        </p:nvSpPr>
        <p:spPr>
          <a:xfrm>
            <a:off x="1844040" y="2240280"/>
            <a:ext cx="9144000" cy="3416320"/>
          </a:xfrm>
          <a:prstGeom prst="rect">
            <a:avLst/>
          </a:prstGeom>
          <a:noFill/>
        </p:spPr>
        <p:txBody>
          <a:bodyPr wrap="square" rtlCol="0">
            <a:spAutoFit/>
          </a:bodyPr>
          <a:lstStyle/>
          <a:p>
            <a:pPr marL="285750" indent="-28575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Good </a:t>
            </a:r>
            <a:r>
              <a:rPr lang="en-US" b="1" dirty="0">
                <a:latin typeface="Times New Roman" panose="02020603050405020304" pitchFamily="18" charset="0"/>
                <a:cs typeface="Times New Roman" panose="02020603050405020304" pitchFamily="18" charset="0"/>
              </a:rPr>
              <a:t>Health and Well-being (SDG 3</a:t>
            </a:r>
            <a:r>
              <a:rPr lang="en-US" b="1"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helps in monitoring air pollution using the </a:t>
            </a:r>
            <a:r>
              <a:rPr lang="en-US" b="1" dirty="0">
                <a:latin typeface="Times New Roman" panose="02020603050405020304" pitchFamily="18" charset="0"/>
                <a:cs typeface="Times New Roman" panose="02020603050405020304" pitchFamily="18" charset="0"/>
              </a:rPr>
              <a:t>MQ-135 Gas Sensor</a:t>
            </a:r>
            <a:r>
              <a:rPr lang="en-US" dirty="0">
                <a:latin typeface="Times New Roman" panose="02020603050405020304" pitchFamily="18" charset="0"/>
                <a:cs typeface="Times New Roman" panose="02020603050405020304" pitchFamily="18" charset="0"/>
              </a:rPr>
              <a:t>, which enables people to avoid exposure to harmful gases and improves overall health</a:t>
            </a:r>
            <a:r>
              <a:rPr lang="en-US" dirty="0" smtClean="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Sustainable </a:t>
            </a:r>
            <a:r>
              <a:rPr lang="en-US" b="1" dirty="0">
                <a:latin typeface="Times New Roman" panose="02020603050405020304" pitchFamily="18" charset="0"/>
                <a:cs typeface="Times New Roman" panose="02020603050405020304" pitchFamily="18" charset="0"/>
              </a:rPr>
              <a:t>Cities and Communities (SDG 11</a:t>
            </a:r>
            <a:r>
              <a:rPr lang="en-US" b="1"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By providing real-time air quality data, the system supports the development of cleaner and safer living environments in urban areas</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Climate </a:t>
            </a:r>
            <a:r>
              <a:rPr lang="en-US" b="1" dirty="0">
                <a:latin typeface="Times New Roman" panose="02020603050405020304" pitchFamily="18" charset="0"/>
                <a:cs typeface="Times New Roman" panose="02020603050405020304" pitchFamily="18" charset="0"/>
              </a:rPr>
              <a:t>Action (SDG 13</a:t>
            </a:r>
            <a:r>
              <a:rPr lang="en-US" b="1"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project helps in identifying pollution levels and raises awareness about environmental conditions, encouraging actions to reduce air pollution.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87481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E2D329-9BF1-E2B3-D97B-0D6CB3E5BE15}"/>
              </a:ext>
            </a:extLst>
          </p:cNvPr>
          <p:cNvSpPr>
            <a:spLocks noGrp="1"/>
          </p:cNvSpPr>
          <p:nvPr>
            <p:ph type="title"/>
          </p:nvPr>
        </p:nvSpPr>
        <p:spPr>
          <a:xfrm>
            <a:off x="838200" y="0"/>
            <a:ext cx="10515600" cy="1325563"/>
          </a:xfrm>
        </p:spPr>
        <p:txBody>
          <a:bodyPr/>
          <a:lstStyle/>
          <a:p>
            <a:pPr algn="ctr"/>
            <a:r>
              <a:rPr lang="en-US" b="1" dirty="0">
                <a:latin typeface="Times New Roman" panose="02020603050405020304" pitchFamily="18" charset="0"/>
                <a:cs typeface="Times New Roman" panose="02020603050405020304" pitchFamily="18" charset="0"/>
              </a:rPr>
              <a:t>METHODOLOGY</a:t>
            </a:r>
            <a:endParaRPr lang="en-IN" b="1" dirty="0">
              <a:latin typeface="Times New Roman" panose="02020603050405020304" pitchFamily="18" charset="0"/>
              <a:cs typeface="Times New Roman" panose="02020603050405020304" pitchFamily="18" charset="0"/>
            </a:endParaRPr>
          </a:p>
        </p:txBody>
      </p:sp>
      <p:sp>
        <p:nvSpPr>
          <p:cNvPr id="8" name="Rectangle 2">
            <a:extLst>
              <a:ext uri="{FF2B5EF4-FFF2-40B4-BE49-F238E27FC236}">
                <a16:creationId xmlns:a16="http://schemas.microsoft.com/office/drawing/2014/main" xmlns="" id="{32253065-1C2F-0C05-E2EC-B84B451283A4}"/>
              </a:ext>
            </a:extLst>
          </p:cNvPr>
          <p:cNvSpPr>
            <a:spLocks noGrp="1" noChangeArrowheads="1"/>
          </p:cNvSpPr>
          <p:nvPr>
            <p:ph idx="1"/>
          </p:nvPr>
        </p:nvSpPr>
        <p:spPr bwMode="auto">
          <a:xfrm>
            <a:off x="838200" y="1619243"/>
            <a:ext cx="10385809" cy="4261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US" sz="1800" b="1" dirty="0" smtClean="0">
                <a:latin typeface="Times New Roman" panose="02020603050405020304" pitchFamily="18" charset="0"/>
                <a:cs typeface="Times New Roman" panose="02020603050405020304" pitchFamily="18" charset="0"/>
              </a:rPr>
              <a:t>Data </a:t>
            </a:r>
            <a:r>
              <a:rPr lang="en-US" sz="1800" b="1" dirty="0" smtClean="0">
                <a:latin typeface="Times New Roman" panose="02020603050405020304" pitchFamily="18" charset="0"/>
                <a:cs typeface="Times New Roman" panose="02020603050405020304" pitchFamily="18" charset="0"/>
              </a:rPr>
              <a:t>Collection</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system uses the MQ-135 Gas Sensor to detect harmful gases and measure air quality levels from the surrounding environment.</a:t>
            </a:r>
          </a:p>
          <a:p>
            <a:pPr>
              <a:buFont typeface="Wingdings" panose="05000000000000000000" pitchFamily="2" charset="2"/>
              <a:buChar char="Ø"/>
            </a:pPr>
            <a:r>
              <a:rPr lang="en-US" sz="1800" b="1" dirty="0" smtClean="0">
                <a:latin typeface="Times New Roman" panose="02020603050405020304" pitchFamily="18" charset="0"/>
                <a:cs typeface="Times New Roman" panose="02020603050405020304" pitchFamily="18" charset="0"/>
              </a:rPr>
              <a:t>Data </a:t>
            </a:r>
            <a:r>
              <a:rPr lang="en-US" sz="1800" b="1" dirty="0" smtClean="0">
                <a:latin typeface="Times New Roman" panose="02020603050405020304" pitchFamily="18" charset="0"/>
                <a:cs typeface="Times New Roman" panose="02020603050405020304" pitchFamily="18" charset="0"/>
              </a:rPr>
              <a:t>Processing</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microcontroller </a:t>
            </a:r>
            <a:r>
              <a:rPr lang="en-US" sz="1800" dirty="0" smtClean="0">
                <a:latin typeface="Times New Roman" panose="02020603050405020304" pitchFamily="18" charset="0"/>
                <a:cs typeface="Times New Roman" panose="02020603050405020304" pitchFamily="18" charset="0"/>
              </a:rPr>
              <a:t>(ESP8266</a:t>
            </a:r>
            <a:r>
              <a:rPr lang="en-US" sz="1800" dirty="0">
                <a:latin typeface="Times New Roman" panose="02020603050405020304" pitchFamily="18" charset="0"/>
                <a:cs typeface="Times New Roman" panose="02020603050405020304" pitchFamily="18" charset="0"/>
              </a:rPr>
              <a:t>) reads the sensor values and converts them into meaningful air quality data.</a:t>
            </a:r>
          </a:p>
          <a:p>
            <a:pPr>
              <a:buFont typeface="Wingdings" panose="05000000000000000000" pitchFamily="2" charset="2"/>
              <a:buChar char="Ø"/>
            </a:pPr>
            <a:r>
              <a:rPr lang="en-US" sz="1800" b="1" dirty="0" smtClean="0">
                <a:latin typeface="Times New Roman" panose="02020603050405020304" pitchFamily="18" charset="0"/>
                <a:cs typeface="Times New Roman" panose="02020603050405020304" pitchFamily="18" charset="0"/>
              </a:rPr>
              <a:t>Data </a:t>
            </a:r>
            <a:r>
              <a:rPr lang="en-US" sz="1800" b="1" dirty="0" smtClean="0">
                <a:latin typeface="Times New Roman" panose="02020603050405020304" pitchFamily="18" charset="0"/>
                <a:cs typeface="Times New Roman" panose="02020603050405020304" pitchFamily="18" charset="0"/>
              </a:rPr>
              <a:t>Transmission</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processed data is transmitted through a </a:t>
            </a:r>
            <a:r>
              <a:rPr lang="en-US" sz="1800" dirty="0" err="1">
                <a:latin typeface="Times New Roman" panose="02020603050405020304" pitchFamily="18" charset="0"/>
                <a:cs typeface="Times New Roman" panose="02020603050405020304" pitchFamily="18" charset="0"/>
              </a:rPr>
              <a:t>WiFi</a:t>
            </a:r>
            <a:r>
              <a:rPr lang="en-US" sz="1800" dirty="0">
                <a:latin typeface="Times New Roman" panose="02020603050405020304" pitchFamily="18" charset="0"/>
                <a:cs typeface="Times New Roman" panose="02020603050405020304" pitchFamily="18" charset="0"/>
              </a:rPr>
              <a:t> module to a web server for remote access.</a:t>
            </a:r>
          </a:p>
          <a:p>
            <a:pPr>
              <a:buFont typeface="Wingdings" panose="05000000000000000000" pitchFamily="2" charset="2"/>
              <a:buChar char="Ø"/>
            </a:pPr>
            <a:r>
              <a:rPr lang="en-US" sz="1800" b="1" dirty="0" smtClean="0">
                <a:latin typeface="Times New Roman" panose="02020603050405020304" pitchFamily="18" charset="0"/>
                <a:cs typeface="Times New Roman" panose="02020603050405020304" pitchFamily="18" charset="0"/>
              </a:rPr>
              <a:t>Data </a:t>
            </a:r>
            <a:r>
              <a:rPr lang="en-US" sz="1800" b="1" dirty="0" smtClean="0">
                <a:latin typeface="Times New Roman" panose="02020603050405020304" pitchFamily="18" charset="0"/>
                <a:cs typeface="Times New Roman" panose="02020603050405020304" pitchFamily="18" charset="0"/>
              </a:rPr>
              <a:t>Display</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air quality level is displayed on a wearable watch display as well as on a web page in a laptop for real-time monitoring.</a:t>
            </a:r>
          </a:p>
          <a:p>
            <a:pPr>
              <a:buFont typeface="Wingdings" panose="05000000000000000000" pitchFamily="2" charset="2"/>
              <a:buChar char="Ø"/>
            </a:pPr>
            <a:r>
              <a:rPr lang="en-US" sz="1800" b="1" dirty="0" smtClean="0">
                <a:latin typeface="Times New Roman" panose="02020603050405020304" pitchFamily="18" charset="0"/>
                <a:cs typeface="Times New Roman" panose="02020603050405020304" pitchFamily="18" charset="0"/>
              </a:rPr>
              <a:t>Alert </a:t>
            </a:r>
            <a:r>
              <a:rPr lang="en-US" sz="1800" b="1" dirty="0" smtClean="0">
                <a:latin typeface="Times New Roman" panose="02020603050405020304" pitchFamily="18" charset="0"/>
                <a:cs typeface="Times New Roman" panose="02020603050405020304" pitchFamily="18" charset="0"/>
              </a:rPr>
              <a:t>Mechanism</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If the pollution level exceeds the predefined safe limit, an alert (LED/buzzer or warning message) is triggered to notify the user.</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1817DD6D-6829-CD65-D065-846F98B19B71}"/>
              </a:ext>
            </a:extLst>
          </p:cNvPr>
          <p:cNvSpPr>
            <a:spLocks noGrp="1"/>
          </p:cNvSpPr>
          <p:nvPr>
            <p:ph type="dt" sz="half" idx="10"/>
          </p:nvPr>
        </p:nvSpPr>
        <p:spPr/>
        <p:txBody>
          <a:bodyPr/>
          <a:lstStyle/>
          <a:p>
            <a:fld id="{34B7A1BD-73C7-4D5A-A950-AF0EF5C1D24A}" type="datetime1">
              <a:rPr lang="en-IN" smtClean="0"/>
              <a:t>30-03-2026</a:t>
            </a:fld>
            <a:endParaRPr lang="en-IN" dirty="0"/>
          </a:p>
        </p:txBody>
      </p:sp>
      <p:sp>
        <p:nvSpPr>
          <p:cNvPr id="5" name="Footer Placeholder 4">
            <a:extLst>
              <a:ext uri="{FF2B5EF4-FFF2-40B4-BE49-F238E27FC236}">
                <a16:creationId xmlns:a16="http://schemas.microsoft.com/office/drawing/2014/main" xmlns="" id="{2148A1FE-638D-435D-056D-247EC9F4295F}"/>
              </a:ext>
            </a:extLst>
          </p:cNvPr>
          <p:cNvSpPr>
            <a:spLocks noGrp="1"/>
          </p:cNvSpPr>
          <p:nvPr>
            <p:ph type="ftr" sz="quarter" idx="11"/>
          </p:nvPr>
        </p:nvSpPr>
        <p:spPr/>
        <p:txBody>
          <a:bodyPr/>
          <a:lstStyle/>
          <a:p>
            <a:r>
              <a:rPr lang="en-US"/>
              <a:t>19EC8901-Project Work (Phase II)</a:t>
            </a:r>
            <a:endParaRPr lang="en-IN" dirty="0"/>
          </a:p>
        </p:txBody>
      </p:sp>
      <p:sp>
        <p:nvSpPr>
          <p:cNvPr id="6" name="Slide Number Placeholder 5">
            <a:extLst>
              <a:ext uri="{FF2B5EF4-FFF2-40B4-BE49-F238E27FC236}">
                <a16:creationId xmlns:a16="http://schemas.microsoft.com/office/drawing/2014/main" xmlns="" id="{C2FBFA2F-DA98-A717-F102-72FDF7653A35}"/>
              </a:ext>
            </a:extLst>
          </p:cNvPr>
          <p:cNvSpPr>
            <a:spLocks noGrp="1"/>
          </p:cNvSpPr>
          <p:nvPr>
            <p:ph type="sldNum" sz="quarter" idx="12"/>
          </p:nvPr>
        </p:nvSpPr>
        <p:spPr/>
        <p:txBody>
          <a:bodyPr/>
          <a:lstStyle/>
          <a:p>
            <a:fld id="{33E21CDD-31EC-4C8F-961C-0F4A3D7870DF}" type="slidenum">
              <a:rPr lang="en-IN" smtClean="0"/>
              <a:t>10</a:t>
            </a:fld>
            <a:endParaRPr lang="en-IN" dirty="0"/>
          </a:p>
        </p:txBody>
      </p:sp>
    </p:spTree>
    <p:extLst>
      <p:ext uri="{BB962C8B-B14F-4D97-AF65-F5344CB8AC3E}">
        <p14:creationId xmlns:p14="http://schemas.microsoft.com/office/powerpoint/2010/main" val="4052293836"/>
      </p:ext>
    </p:extLst>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 name="Shape 14"/>
        <p:cNvGrpSpPr/>
        <p:nvPr/>
      </p:nvGrpSpPr>
      <p:grpSpPr>
        <a:xfrm>
          <a:off x="0" y="0"/>
          <a:ext cx="0" cy="0"/>
          <a:chOff x="0" y="0"/>
          <a:chExt cx="0" cy="0"/>
        </a:xfrm>
      </p:grpSpPr>
      <p:sp>
        <p:nvSpPr>
          <p:cNvPr id="15" name="Google Shape;15;p1"/>
          <p:cNvSpPr txBox="1"/>
          <p:nvPr>
            <p:ph idx="1" type="body"/>
          </p:nvPr>
        </p:nvSpPr>
        <p:spPr>
          <a:xfrm>
            <a:off x="1018233" y="1453696"/>
            <a:ext cx="10335600" cy="4663800"/>
          </a:xfrm>
          <a:prstGeom prst="rect">
            <a:avLst/>
          </a:prstGeom>
          <a:noFill/>
          <a:ln>
            <a:noFill/>
          </a:ln>
        </p:spPr>
        <p:txBody>
          <a:bodyPr anchorCtr="0" anchor="ctr" bIns="45700" lIns="91425" spcFirstLastPara="1" rIns="91425" wrap="square" tIns="45700">
            <a:spAutoFit/>
          </a:bodyPr>
          <a:lstStyle/>
          <a:p>
            <a:pPr indent="-228600" lvl="0" marL="228600" rtl="0" algn="just">
              <a:lnSpc>
                <a:spcPct val="90000"/>
              </a:lnSpc>
              <a:spcBef>
                <a:spcPts val="0"/>
              </a:spcBef>
              <a:spcAft>
                <a:spcPts val="0"/>
              </a:spcAft>
              <a:buClr>
                <a:schemeClr val="dk1"/>
              </a:buClr>
              <a:buSzPts val="1800"/>
              <a:buFont typeface="Noto Sans Symbols"/>
              <a:buChar char="⮚"/>
            </a:pPr>
            <a:r>
              <a:rPr lang="en-US" sz="1800">
                <a:latin typeface="Times New Roman"/>
                <a:ea typeface="Times New Roman"/>
                <a:cs typeface="Times New Roman"/>
                <a:sym typeface="Times New Roman"/>
              </a:rPr>
              <a:t>The project uses a low-cost setup with ESP8266 and the MQ-135 Gas Sensor, making it affordable and easy to implement.</a:t>
            </a:r>
            <a:endParaRPr/>
          </a:p>
          <a:p>
            <a:pPr indent="0" lvl="0" marL="0" rtl="0" algn="just">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1800"/>
              <a:buFont typeface="Noto Sans Symbols"/>
              <a:buChar char="⮚"/>
            </a:pPr>
            <a:r>
              <a:rPr lang="en-US" sz="1800">
                <a:latin typeface="Times New Roman"/>
                <a:ea typeface="Times New Roman"/>
                <a:cs typeface="Times New Roman"/>
                <a:sym typeface="Times New Roman"/>
              </a:rPr>
              <a:t>It provides real-time air quality monitoring through a web page using IP address, which can be accessed on both mobile and laptop.</a:t>
            </a:r>
            <a:endParaRPr/>
          </a:p>
          <a:p>
            <a:pPr indent="-114300" lvl="0" marL="228600" rtl="0" algn="just">
              <a:lnSpc>
                <a:spcPct val="90000"/>
              </a:lnSpc>
              <a:spcBef>
                <a:spcPts val="1000"/>
              </a:spcBef>
              <a:spcAft>
                <a:spcPts val="0"/>
              </a:spcAft>
              <a:buClr>
                <a:schemeClr val="dk1"/>
              </a:buClr>
              <a:buSzPts val="1800"/>
              <a:buFont typeface="Noto Sans Symbols"/>
              <a:buNone/>
            </a:pPr>
            <a:r>
              <a:t/>
            </a:r>
            <a:endParaRPr sz="1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1800"/>
              <a:buFont typeface="Noto Sans Symbols"/>
              <a:buChar char="⮚"/>
            </a:pPr>
            <a:r>
              <a:rPr lang="en-US" sz="1800">
                <a:latin typeface="Times New Roman"/>
                <a:ea typeface="Times New Roman"/>
                <a:cs typeface="Times New Roman"/>
                <a:sym typeface="Times New Roman"/>
              </a:rPr>
              <a:t>The system includes an instant alert mechanism using a buzzer when pollution levels become unsafe.</a:t>
            </a:r>
            <a:endParaRPr/>
          </a:p>
          <a:p>
            <a:pPr indent="-114300" lvl="0" marL="228600" rtl="0" algn="just">
              <a:lnSpc>
                <a:spcPct val="90000"/>
              </a:lnSpc>
              <a:spcBef>
                <a:spcPts val="1000"/>
              </a:spcBef>
              <a:spcAft>
                <a:spcPts val="0"/>
              </a:spcAft>
              <a:buClr>
                <a:schemeClr val="dk1"/>
              </a:buClr>
              <a:buSzPts val="1800"/>
              <a:buFont typeface="Noto Sans Symbols"/>
              <a:buNone/>
            </a:pPr>
            <a:r>
              <a:t/>
            </a:r>
            <a:endParaRPr sz="1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1800"/>
              <a:buFont typeface="Noto Sans Symbols"/>
              <a:buChar char="⮚"/>
            </a:pPr>
            <a:r>
              <a:rPr lang="en-US" sz="1800">
                <a:latin typeface="Times New Roman"/>
                <a:ea typeface="Times New Roman"/>
                <a:cs typeface="Times New Roman"/>
                <a:sym typeface="Times New Roman"/>
              </a:rPr>
              <a:t>It supports a portable and wearable concept (watch display) for personal air quality monitoring anywhere.</a:t>
            </a:r>
            <a:endParaRPr/>
          </a:p>
          <a:p>
            <a:pPr indent="-114300" lvl="0" marL="228600" rtl="0" algn="just">
              <a:lnSpc>
                <a:spcPct val="90000"/>
              </a:lnSpc>
              <a:spcBef>
                <a:spcPts val="1000"/>
              </a:spcBef>
              <a:spcAft>
                <a:spcPts val="0"/>
              </a:spcAft>
              <a:buClr>
                <a:schemeClr val="dk1"/>
              </a:buClr>
              <a:buSzPts val="1800"/>
              <a:buFont typeface="Noto Sans Symbols"/>
              <a:buNone/>
            </a:pPr>
            <a:r>
              <a:t/>
            </a:r>
            <a:endParaRPr sz="1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1800"/>
              <a:buFont typeface="Noto Sans Symbols"/>
              <a:buChar char="⮚"/>
            </a:pPr>
            <a:r>
              <a:rPr lang="en-US" sz="1800">
                <a:latin typeface="Times New Roman"/>
                <a:ea typeface="Times New Roman"/>
                <a:cs typeface="Times New Roman"/>
                <a:sym typeface="Times New Roman"/>
              </a:rPr>
              <a:t>The project is simple, user-friendly, and does not require complex cloud setup, making it efficient for real-time usage.</a:t>
            </a:r>
            <a:endParaRPr/>
          </a:p>
          <a:p>
            <a:pPr indent="0" lvl="0" marL="0" marR="0" rtl="0" algn="just">
              <a:lnSpc>
                <a:spcPct val="200000"/>
              </a:lnSpc>
              <a:spcBef>
                <a:spcPts val="0"/>
              </a:spcBef>
              <a:spcAft>
                <a:spcPts val="0"/>
              </a:spcAft>
              <a:buClr>
                <a:schemeClr val="dk1"/>
              </a:buClr>
              <a:buSzPts val="1800"/>
              <a:buFont typeface="Calibri"/>
              <a:buNone/>
            </a:pPr>
            <a:r>
              <a:t/>
            </a:r>
            <a:endParaRPr i="0" sz="1800" u="none" cap="none" strike="noStrike">
              <a:solidFill>
                <a:schemeClr val="dk1"/>
              </a:solidFill>
              <a:latin typeface="Times New Roman"/>
              <a:ea typeface="Times New Roman"/>
              <a:cs typeface="Times New Roman"/>
              <a:sym typeface="Times New Roman"/>
            </a:endParaRPr>
          </a:p>
        </p:txBody>
      </p:sp>
      <p:sp>
        <p:nvSpPr>
          <p:cNvPr id="16" name="Google Shape;16;p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30-03-2026</a:t>
            </a:r>
            <a:endParaRPr/>
          </a:p>
        </p:txBody>
      </p:sp>
      <p:sp>
        <p:nvSpPr>
          <p:cNvPr id="17" name="Google Shape;17;p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19EC8901-Project Work (Phase II)</a:t>
            </a:r>
            <a:endParaRPr/>
          </a:p>
        </p:txBody>
      </p:sp>
      <p:sp>
        <p:nvSpPr>
          <p:cNvPr id="18" name="Google Shape;18;p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 name="Google Shape;19;p1"/>
          <p:cNvSpPr/>
          <p:nvPr/>
        </p:nvSpPr>
        <p:spPr>
          <a:xfrm>
            <a:off x="4453931" y="496017"/>
            <a:ext cx="4114800" cy="10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UNIQUIENESS</a:t>
            </a:r>
            <a:endParaRPr sz="24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C01971BB-755B-6085-1CB0-E61341CD33B1}"/>
              </a:ext>
            </a:extLst>
          </p:cNvPr>
          <p:cNvSpPr txBox="1"/>
          <p:nvPr/>
        </p:nvSpPr>
        <p:spPr>
          <a:xfrm>
            <a:off x="4804409" y="473592"/>
            <a:ext cx="2583180" cy="492443"/>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SCALABILITY</a:t>
            </a:r>
          </a:p>
        </p:txBody>
      </p:sp>
      <p:sp>
        <p:nvSpPr>
          <p:cNvPr id="3" name="TextBox 2">
            <a:extLst>
              <a:ext uri="{FF2B5EF4-FFF2-40B4-BE49-F238E27FC236}">
                <a16:creationId xmlns:a16="http://schemas.microsoft.com/office/drawing/2014/main" xmlns="" id="{CC2B742C-1600-9373-75E5-0A9353838E50}"/>
              </a:ext>
            </a:extLst>
          </p:cNvPr>
          <p:cNvSpPr txBox="1"/>
          <p:nvPr/>
        </p:nvSpPr>
        <p:spPr>
          <a:xfrm>
            <a:off x="859928" y="1763431"/>
            <a:ext cx="10874477" cy="3970318"/>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system can be expanded by adding more sensors along with the MQ-135 Gas Sensor to monitor additional environmental parameters</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Multiple </a:t>
            </a:r>
            <a:r>
              <a:rPr lang="en-US" dirty="0">
                <a:latin typeface="Times New Roman" panose="02020603050405020304" pitchFamily="18" charset="0"/>
                <a:cs typeface="Times New Roman" panose="02020603050405020304" pitchFamily="18" charset="0"/>
              </a:rPr>
              <a:t>devices can be installed in different locations </a:t>
            </a: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create a wide air quality monitoring network</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system can be upgraded from a simple IP-based webpage to cloud-based monitoring for accessing data </a:t>
            </a:r>
            <a:r>
              <a:rPr lang="en-US" dirty="0" smtClean="0">
                <a:latin typeface="Times New Roman" panose="02020603050405020304" pitchFamily="18" charset="0"/>
                <a:cs typeface="Times New Roman" panose="02020603050405020304" pitchFamily="18" charset="0"/>
              </a:rPr>
              <a:t>from anywhere.</a:t>
            </a:r>
          </a:p>
          <a:p>
            <a:pPr marL="285750" indent="-285750" algn="just">
              <a:buFont typeface="Wingdings" panose="05000000000000000000" pitchFamily="2" charset="2"/>
              <a:buChar char="Ø"/>
            </a:pPr>
            <a:endParaRPr lang="en-US"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More users can access the system simultaneously by hosting the web dashboard on a server.</a:t>
            </a:r>
          </a:p>
          <a:p>
            <a:pPr marL="285750" indent="-285750" algn="just">
              <a:buFont typeface="Wingdings" panose="05000000000000000000" pitchFamily="2" charset="2"/>
              <a:buChar char="Ø"/>
            </a:pPr>
            <a:endParaRPr lang="en-US" dirty="0" smtClean="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project can be enhanced with data storage and analysis features to support large-scale environmental monitoring.</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2089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C58E60B2-93B6-B0DF-09A3-19404DEE8F75}"/>
              </a:ext>
            </a:extLst>
          </p:cNvPr>
          <p:cNvSpPr txBox="1"/>
          <p:nvPr/>
        </p:nvSpPr>
        <p:spPr>
          <a:xfrm>
            <a:off x="4631755" y="406613"/>
            <a:ext cx="2613660" cy="769441"/>
          </a:xfrm>
          <a:prstGeom prst="rect">
            <a:avLst/>
          </a:prstGeom>
          <a:noFill/>
        </p:spPr>
        <p:txBody>
          <a:bodyPr wrap="square" rtlCol="0">
            <a:spAutoFit/>
          </a:bodyPr>
          <a:lstStyle/>
          <a:p>
            <a:r>
              <a:rPr lang="en-US" sz="2600" b="1" dirty="0">
                <a:latin typeface="Times New Roman" panose="02020603050405020304" pitchFamily="18" charset="0"/>
                <a:cs typeface="Times New Roman" panose="02020603050405020304" pitchFamily="18" charset="0"/>
              </a:rPr>
              <a:t>FLEXIBILITY</a:t>
            </a:r>
            <a:endParaRPr lang="en-IN" sz="2600" b="1" dirty="0">
              <a:latin typeface="Times New Roman" panose="02020603050405020304" pitchFamily="18"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xmlns="" id="{BB2800B6-C6C7-AAE4-57C9-5464AF984CC2}"/>
              </a:ext>
            </a:extLst>
          </p:cNvPr>
          <p:cNvSpPr txBox="1"/>
          <p:nvPr/>
        </p:nvSpPr>
        <p:spPr>
          <a:xfrm>
            <a:off x="741057" y="2145318"/>
            <a:ext cx="10314040" cy="3693319"/>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system can be easily modified by adding or removing components like the MQ-135 Gas Sensor or buzzer based on requirements</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can be used in different environments such as homes, classrooms, offices, or outdoor areas</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web page can be customized to display different formats like graphs, colors, or messages</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system supports multiple display options, including wearable (watch) and laptop/mobile web dashboard</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project can be upgraded anytime with new features like mobile app, cloud storage, or additional sensors.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4673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BE4F9A80-211A-4939-C571-B1FBBFCC5B72}"/>
              </a:ext>
            </a:extLst>
          </p:cNvPr>
          <p:cNvSpPr txBox="1"/>
          <p:nvPr/>
        </p:nvSpPr>
        <p:spPr>
          <a:xfrm>
            <a:off x="4789170" y="210145"/>
            <a:ext cx="2613660" cy="492443"/>
          </a:xfrm>
          <a:prstGeom prst="rect">
            <a:avLst/>
          </a:prstGeom>
          <a:noFill/>
        </p:spPr>
        <p:txBody>
          <a:bodyPr wrap="square" rtlCol="0">
            <a:spAutoFit/>
          </a:bodyPr>
          <a:lstStyle/>
          <a:p>
            <a:pPr algn="ctr"/>
            <a:r>
              <a:rPr lang="en-US" sz="2600" b="1" dirty="0">
                <a:latin typeface="Times New Roman" panose="02020603050405020304" pitchFamily="18" charset="0"/>
                <a:cs typeface="Times New Roman" panose="02020603050405020304" pitchFamily="18" charset="0"/>
              </a:rPr>
              <a:t>FEASIBILITY</a:t>
            </a:r>
            <a:endParaRPr lang="en-IN" sz="26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FF5896E7-0AE6-02BD-BE0A-9F42506987DD}"/>
              </a:ext>
            </a:extLst>
          </p:cNvPr>
          <p:cNvSpPr txBox="1"/>
          <p:nvPr/>
        </p:nvSpPr>
        <p:spPr>
          <a:xfrm>
            <a:off x="619432" y="1342668"/>
            <a:ext cx="10953136" cy="5078313"/>
          </a:xfrm>
          <a:prstGeom prst="rect">
            <a:avLst/>
          </a:prstGeom>
          <a:noFill/>
        </p:spPr>
        <p:txBody>
          <a:bodyPr wrap="square" rtlCol="0">
            <a:spAutoFit/>
          </a:bodyPr>
          <a:lstStyle/>
          <a:p>
            <a:pPr marL="285750" indent="-28575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Technical </a:t>
            </a:r>
            <a:r>
              <a:rPr lang="en-US" b="1" dirty="0" smtClean="0">
                <a:latin typeface="Times New Roman" panose="02020603050405020304" pitchFamily="18" charset="0"/>
                <a:cs typeface="Times New Roman" panose="02020603050405020304" pitchFamily="18" charset="0"/>
              </a:rPr>
              <a:t>Feasibility</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project is easy to implement using </a:t>
            </a:r>
            <a:r>
              <a:rPr lang="en-US" b="1" dirty="0">
                <a:latin typeface="Times New Roman" panose="02020603050405020304" pitchFamily="18" charset="0"/>
                <a:cs typeface="Times New Roman" panose="02020603050405020304" pitchFamily="18" charset="0"/>
              </a:rPr>
              <a:t>ESP8266</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MQ-135 Gas Sensor</a:t>
            </a:r>
            <a:r>
              <a:rPr lang="en-US" dirty="0">
                <a:latin typeface="Times New Roman" panose="02020603050405020304" pitchFamily="18" charset="0"/>
                <a:cs typeface="Times New Roman" panose="02020603050405020304" pitchFamily="18" charset="0"/>
              </a:rPr>
              <a:t>, and a buzzer. It does not require complex hardware or advanced programming</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Economic </a:t>
            </a:r>
            <a:r>
              <a:rPr lang="en-US" b="1" dirty="0" smtClean="0">
                <a:latin typeface="Times New Roman" panose="02020603050405020304" pitchFamily="18" charset="0"/>
                <a:cs typeface="Times New Roman" panose="02020603050405020304" pitchFamily="18" charset="0"/>
              </a:rPr>
              <a:t>Feasibility</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is </a:t>
            </a:r>
            <a:r>
              <a:rPr lang="en-US" b="1" dirty="0">
                <a:latin typeface="Times New Roman" panose="02020603050405020304" pitchFamily="18" charset="0"/>
                <a:cs typeface="Times New Roman" panose="02020603050405020304" pitchFamily="18" charset="0"/>
              </a:rPr>
              <a:t>low-cost</a:t>
            </a:r>
            <a:r>
              <a:rPr lang="en-US" dirty="0">
                <a:latin typeface="Times New Roman" panose="02020603050405020304" pitchFamily="18" charset="0"/>
                <a:cs typeface="Times New Roman" panose="02020603050405020304" pitchFamily="18" charset="0"/>
              </a:rPr>
              <a:t>, as all components are affordable and easily available, making it suitable for student projects</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Operational </a:t>
            </a:r>
            <a:r>
              <a:rPr lang="en-US" b="1" dirty="0" smtClean="0">
                <a:latin typeface="Times New Roman" panose="02020603050405020304" pitchFamily="18" charset="0"/>
                <a:cs typeface="Times New Roman" panose="02020603050405020304" pitchFamily="18" charset="0"/>
              </a:rPr>
              <a:t>Feasibility</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is </a:t>
            </a:r>
            <a:r>
              <a:rPr lang="en-US" b="1" dirty="0">
                <a:latin typeface="Times New Roman" panose="02020603050405020304" pitchFamily="18" charset="0"/>
                <a:cs typeface="Times New Roman" panose="02020603050405020304" pitchFamily="18" charset="0"/>
              </a:rPr>
              <a:t>simple to use</a:t>
            </a:r>
            <a:r>
              <a:rPr lang="en-US" dirty="0">
                <a:latin typeface="Times New Roman" panose="02020603050405020304" pitchFamily="18" charset="0"/>
                <a:cs typeface="Times New Roman" panose="02020603050405020304" pitchFamily="18" charset="0"/>
              </a:rPr>
              <a:t>, with real-time data displayed on a web page and alerts through a buzzer, requiring minimal user effort</a:t>
            </a:r>
            <a:r>
              <a:rPr lang="en-US"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Practical </a:t>
            </a:r>
            <a:r>
              <a:rPr lang="en-US" b="1" dirty="0" smtClean="0">
                <a:latin typeface="Times New Roman" panose="02020603050405020304" pitchFamily="18" charset="0"/>
                <a:cs typeface="Times New Roman" panose="02020603050405020304" pitchFamily="18" charset="0"/>
              </a:rPr>
              <a:t>Feasibility</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project can be used in </a:t>
            </a:r>
            <a:r>
              <a:rPr lang="en-US" b="1" dirty="0">
                <a:latin typeface="Times New Roman" panose="02020603050405020304" pitchFamily="18" charset="0"/>
                <a:cs typeface="Times New Roman" panose="02020603050405020304" pitchFamily="18" charset="0"/>
              </a:rPr>
              <a:t>real-life environments</a:t>
            </a:r>
            <a:r>
              <a:rPr lang="en-US" dirty="0">
                <a:latin typeface="Times New Roman" panose="02020603050405020304" pitchFamily="18" charset="0"/>
                <a:cs typeface="Times New Roman" panose="02020603050405020304" pitchFamily="18" charset="0"/>
              </a:rPr>
              <a:t> like homes, classrooms, and offices for monitoring air quality</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Time </a:t>
            </a:r>
            <a:r>
              <a:rPr lang="en-US" b="1" dirty="0" smtClean="0">
                <a:latin typeface="Times New Roman" panose="02020603050405020304" pitchFamily="18" charset="0"/>
                <a:cs typeface="Times New Roman" panose="02020603050405020304" pitchFamily="18" charset="0"/>
              </a:rPr>
              <a:t>Feasibility</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project can be </a:t>
            </a:r>
            <a:r>
              <a:rPr lang="en-US" b="1" dirty="0">
                <a:latin typeface="Times New Roman" panose="02020603050405020304" pitchFamily="18" charset="0"/>
                <a:cs typeface="Times New Roman" panose="02020603050405020304" pitchFamily="18" charset="0"/>
              </a:rPr>
              <a:t>developed and completed within a short duration</a:t>
            </a:r>
            <a:r>
              <a:rPr lang="en-US" dirty="0">
                <a:latin typeface="Times New Roman" panose="02020603050405020304" pitchFamily="18" charset="0"/>
                <a:cs typeface="Times New Roman" panose="02020603050405020304" pitchFamily="18" charset="0"/>
              </a:rPr>
              <a:t>, making it suitable for academic purposes.</a:t>
            </a:r>
          </a:p>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6479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E3AF683-E73F-1F87-23C9-101F9E6F4987}"/>
              </a:ext>
            </a:extLst>
          </p:cNvPr>
          <p:cNvSpPr txBox="1"/>
          <p:nvPr/>
        </p:nvSpPr>
        <p:spPr>
          <a:xfrm>
            <a:off x="2895600" y="520182"/>
            <a:ext cx="6400800" cy="892552"/>
          </a:xfrm>
          <a:prstGeom prst="rect">
            <a:avLst/>
          </a:prstGeom>
          <a:noFill/>
        </p:spPr>
        <p:txBody>
          <a:bodyPr wrap="square" rtlCol="0">
            <a:spAutoFit/>
          </a:bodyPr>
          <a:lstStyle/>
          <a:p>
            <a:pPr algn="ctr"/>
            <a:r>
              <a:rPr lang="en-US" sz="2600" b="1" dirty="0">
                <a:latin typeface="Times New Roman" panose="02020603050405020304" pitchFamily="18" charset="0"/>
                <a:ea typeface="Cambria" panose="02040503050406030204" pitchFamily="18" charset="0"/>
                <a:cs typeface="Times New Roman" panose="02020603050405020304" pitchFamily="18" charset="0"/>
              </a:rPr>
              <a:t>SYSTEM REQUIREMENTS</a:t>
            </a:r>
          </a:p>
          <a:p>
            <a:pPr algn="ctr"/>
            <a:endParaRPr lang="en-IN" sz="2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AE44075E-5CFA-42AB-5844-A3B7C790F1BE}"/>
              </a:ext>
            </a:extLst>
          </p:cNvPr>
          <p:cNvSpPr txBox="1"/>
          <p:nvPr/>
        </p:nvSpPr>
        <p:spPr>
          <a:xfrm>
            <a:off x="1759846" y="1669215"/>
            <a:ext cx="9509760" cy="2723823"/>
          </a:xfrm>
          <a:prstGeom prst="rect">
            <a:avLst/>
          </a:prstGeom>
          <a:noFill/>
        </p:spPr>
        <p:txBody>
          <a:bodyPr wrap="square" rtlCol="0">
            <a:spAutoFit/>
          </a:bodyPr>
          <a:lstStyle/>
          <a:p>
            <a:r>
              <a:rPr lang="en-IN" b="1" dirty="0" smtClean="0">
                <a:latin typeface="Times New Roman" panose="02020603050405020304" pitchFamily="18" charset="0"/>
                <a:cs typeface="Times New Roman" panose="02020603050405020304" pitchFamily="18" charset="0"/>
              </a:rPr>
              <a:t>Hardware Requirements</a:t>
            </a:r>
          </a:p>
          <a:p>
            <a:endParaRPr lang="en-IN"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ESP8266 Microcontroller </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MQ-135 Gas Sensor </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Buzzer (for alert) </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Breadboard </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Jumper Wires </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Power Supply (USB / Adapter)</a:t>
            </a:r>
          </a:p>
          <a:p>
            <a:pPr algn="just">
              <a:lnSpc>
                <a:spcPct val="150000"/>
              </a:lnSpc>
              <a:buNone/>
            </a:pPr>
            <a:endParaRPr lang="en-IN" dirty="0">
              <a:latin typeface="Times New Roman" panose="02020603050405020304" pitchFamily="18" charset="0"/>
              <a:cs typeface="Times New Roman" panose="02020603050405020304" pitchFamily="18" charset="0"/>
            </a:endParaRPr>
          </a:p>
        </p:txBody>
      </p:sp>
      <p:sp>
        <p:nvSpPr>
          <p:cNvPr id="9" name="Rectangle 8"/>
          <p:cNvSpPr/>
          <p:nvPr/>
        </p:nvSpPr>
        <p:spPr>
          <a:xfrm>
            <a:off x="1759846" y="4048443"/>
            <a:ext cx="6096000" cy="1477328"/>
          </a:xfrm>
          <a:prstGeom prst="rect">
            <a:avLst/>
          </a:prstGeom>
        </p:spPr>
        <p:txBody>
          <a:bodyPr>
            <a:spAutoFit/>
          </a:bodyPr>
          <a:lstStyle/>
          <a:p>
            <a:r>
              <a:rPr lang="en-IN" b="1" dirty="0" smtClean="0">
                <a:latin typeface="Times New Roman" panose="02020603050405020304" pitchFamily="18" charset="0"/>
                <a:cs typeface="Times New Roman" panose="02020603050405020304" pitchFamily="18" charset="0"/>
              </a:rPr>
              <a:t>Software Requirements</a:t>
            </a:r>
          </a:p>
          <a:p>
            <a:endParaRPr lang="en-IN"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err="1">
                <a:latin typeface="Times New Roman" panose="02020603050405020304" pitchFamily="18" charset="0"/>
                <a:cs typeface="Times New Roman" panose="02020603050405020304" pitchFamily="18" charset="0"/>
              </a:rPr>
              <a:t>Arduino</a:t>
            </a:r>
            <a:r>
              <a:rPr lang="en-IN" dirty="0">
                <a:latin typeface="Times New Roman" panose="02020603050405020304" pitchFamily="18" charset="0"/>
                <a:cs typeface="Times New Roman" panose="02020603050405020304" pitchFamily="18" charset="0"/>
              </a:rPr>
              <a:t> IDE (for programming ESP8266) </a:t>
            </a:r>
          </a:p>
          <a:p>
            <a:pPr marL="285750" indent="-285750">
              <a:buFont typeface="Wingdings" panose="05000000000000000000" pitchFamily="2" charset="2"/>
              <a:buChar char="Ø"/>
            </a:pPr>
            <a:r>
              <a:rPr lang="en-IN" dirty="0" smtClean="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Arduino</a:t>
            </a:r>
            <a:r>
              <a:rPr lang="en-IN" dirty="0">
                <a:latin typeface="Times New Roman" panose="02020603050405020304" pitchFamily="18" charset="0"/>
                <a:cs typeface="Times New Roman" panose="02020603050405020304" pitchFamily="18" charset="0"/>
              </a:rPr>
              <a:t> Programming Language </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Web Browser (Chrome </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for viewing dashboard</a:t>
            </a:r>
          </a:p>
        </p:txBody>
      </p:sp>
    </p:spTree>
    <p:extLst>
      <p:ext uri="{BB962C8B-B14F-4D97-AF65-F5344CB8AC3E}">
        <p14:creationId xmlns:p14="http://schemas.microsoft.com/office/powerpoint/2010/main" val="2468066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14F6172E-597E-CABF-FA21-6771242C28ED}"/>
              </a:ext>
            </a:extLst>
          </p:cNvPr>
          <p:cNvSpPr txBox="1"/>
          <p:nvPr/>
        </p:nvSpPr>
        <p:spPr>
          <a:xfrm>
            <a:off x="4267200" y="147384"/>
            <a:ext cx="3791712"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RESULT &amp; DISCUSSION</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90488" y="2125430"/>
            <a:ext cx="5577840" cy="3253159"/>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7881" y="2125430"/>
            <a:ext cx="5451399" cy="31775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655956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14F6172E-597E-CABF-FA21-6771242C28ED}"/>
              </a:ext>
            </a:extLst>
          </p:cNvPr>
          <p:cNvSpPr txBox="1"/>
          <p:nvPr/>
        </p:nvSpPr>
        <p:spPr>
          <a:xfrm>
            <a:off x="4267200" y="147384"/>
            <a:ext cx="3791712"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RESULT &amp; DISCUSSION</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7027" y="2203704"/>
            <a:ext cx="5358438" cy="3060889"/>
          </a:xfrm>
          <a:prstGeom prst="rect">
            <a:avLst/>
          </a:prstGeom>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8232" y="2203704"/>
            <a:ext cx="5439932" cy="3060889"/>
          </a:xfrm>
          <a:prstGeom prst="rect">
            <a:avLst/>
          </a:prstGeom>
        </p:spPr>
      </p:pic>
    </p:spTree>
    <p:extLst>
      <p:ext uri="{BB962C8B-B14F-4D97-AF65-F5344CB8AC3E}">
        <p14:creationId xmlns:p14="http://schemas.microsoft.com/office/powerpoint/2010/main" val="21204494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772590-DC24-2BE8-D466-1F8C1AC3010E}"/>
              </a:ext>
            </a:extLst>
          </p:cNvPr>
          <p:cNvSpPr>
            <a:spLocks noGrp="1"/>
          </p:cNvSpPr>
          <p:nvPr/>
        </p:nvSpPr>
        <p:spPr>
          <a:xfrm>
            <a:off x="838200" y="5230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600" b="1" dirty="0" smtClean="0">
                <a:latin typeface="Times New Roman" panose="02020603050405020304" pitchFamily="18" charset="0"/>
                <a:cs typeface="Times New Roman" panose="02020603050405020304" pitchFamily="18" charset="0"/>
              </a:rPr>
              <a:t>CONCLUSION AND FUTURE ENHANCEMENT</a:t>
            </a:r>
            <a:endParaRPr lang="en-IN" sz="2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953C1EC-94F1-C82A-3204-EA4FB236461E}"/>
              </a:ext>
            </a:extLst>
          </p:cNvPr>
          <p:cNvSpPr>
            <a:spLocks noGrp="1"/>
          </p:cNvSpPr>
          <p:nvPr/>
        </p:nvSpPr>
        <p:spPr>
          <a:xfrm>
            <a:off x="838200" y="1983581"/>
            <a:ext cx="8332627" cy="42107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200000"/>
              </a:lnSpc>
              <a:buNone/>
            </a:pPr>
            <a:endParaRPr lang="en-IN" sz="1800" dirty="0">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a:off x="1143001" y="1546286"/>
            <a:ext cx="843076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CONCLUSION: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Successfully developed a real-time air quality monitoring system using ESP8266 and MQ-135 sensor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system effectively detects pollution levels and displays data on a web page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Provides immediate alert using buzzer when air quality exceeds safe limits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Cost-effective, portable, and easy to use for daily applications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Helps in increasing awareness about air pollution and health safety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3"/>
          <p:cNvSpPr>
            <a:spLocks noChangeArrowheads="1"/>
          </p:cNvSpPr>
          <p:nvPr/>
        </p:nvSpPr>
        <p:spPr bwMode="auto">
          <a:xfrm>
            <a:off x="1143001" y="4058796"/>
            <a:ext cx="8430767"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FUTURE ENHANCEMENT: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9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Integration with mobile app for real-time notifications and remote access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Addition of multiple sensors for detecting different gases with higher accuracy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Cloud integration for data storage and long-term analysis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GPS module for location-based air quality tracking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Implementation of AI/ML for predicting air quality trends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2501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8D8915-FC3F-D9D0-9994-8CC77C16B054}"/>
              </a:ext>
            </a:extLst>
          </p:cNvPr>
          <p:cNvSpPr>
            <a:spLocks noGrp="1"/>
          </p:cNvSpPr>
          <p:nvPr/>
        </p:nvSpPr>
        <p:spPr>
          <a:xfrm>
            <a:off x="616857" y="375105"/>
            <a:ext cx="10958286" cy="796018"/>
          </a:xfrm>
          <a:prstGeom prst="rect">
            <a:avLst/>
          </a:prstGeom>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600" b="1" dirty="0">
                <a:latin typeface="Times New Roman" panose="02020603050405020304" pitchFamily="18" charset="0"/>
                <a:ea typeface="Cambria" panose="02040503050406030204" pitchFamily="18" charset="0"/>
                <a:cs typeface="Times New Roman" panose="02020603050405020304" pitchFamily="18" charset="0"/>
              </a:rPr>
              <a:t>REFERENCES</a:t>
            </a:r>
          </a:p>
        </p:txBody>
      </p:sp>
      <p:sp>
        <p:nvSpPr>
          <p:cNvPr id="3" name="Rectangle 1"/>
          <p:cNvSpPr>
            <a:spLocks noChangeArrowheads="1"/>
          </p:cNvSpPr>
          <p:nvPr/>
        </p:nvSpPr>
        <p:spPr bwMode="auto">
          <a:xfrm>
            <a:off x="536355" y="1327110"/>
            <a:ext cx="1103878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“Smart Air Pollution Monitoring System with Real-Time Data Using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IoT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a:t>
            </a:r>
            <a:r>
              <a:rPr kumimoji="0" lang="en-US" sz="18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Elsevier Measurement Journal</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2024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IoT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-Enabled Air Quality Monitoring and Alert System Using ESP8266” – </a:t>
            </a:r>
            <a:r>
              <a:rPr kumimoji="0" lang="en-US" sz="18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IEEE </a:t>
            </a:r>
            <a:r>
              <a:rPr kumimoji="0" lang="en-US" sz="1800"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Xplore</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2024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IoT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-Based Indoor Air Quality Monitoring System Using Gas Sensors” – </a:t>
            </a:r>
            <a:r>
              <a:rPr kumimoji="0" lang="en-US" sz="18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Elsevier Sustainable Computing</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2024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“Development of Smart Air Quality Monitoring System Using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Arduino</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IoT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a:t>
            </a:r>
            <a:r>
              <a:rPr kumimoji="0" lang="en-US" sz="18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International Journal of Innovative Technology and Exploring Engineering (IJITEE)</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2024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IoT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-Based Multi-Gas Monitoring System for Environmental Safety” – </a:t>
            </a:r>
            <a:r>
              <a:rPr kumimoji="0" lang="en-US" sz="18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Elsevier Microprocessors and Microsystems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2024 </a:t>
            </a:r>
          </a:p>
          <a:p>
            <a:pPr algn="just" eaLnBrk="0" fontAlgn="base" hangingPunct="0">
              <a:spcBef>
                <a:spcPct val="0"/>
              </a:spcBef>
              <a:spcAft>
                <a:spcPct val="0"/>
              </a:spcAft>
              <a:buFontTx/>
              <a:buChar char="•"/>
            </a:pPr>
            <a:r>
              <a:rPr lang="en-US" dirty="0">
                <a:latin typeface="Times New Roman" panose="02020603050405020304" pitchFamily="18" charset="0"/>
                <a:cs typeface="Times New Roman" panose="02020603050405020304" pitchFamily="18" charset="0"/>
              </a:rPr>
              <a:t>“Low-Cost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-Based Environmental Monitoring System for Smart Cities” – </a:t>
            </a:r>
            <a:r>
              <a:rPr lang="en-US" i="1" dirty="0">
                <a:latin typeface="Times New Roman" panose="02020603050405020304" pitchFamily="18" charset="0"/>
                <a:cs typeface="Times New Roman" panose="02020603050405020304" pitchFamily="18" charset="0"/>
              </a:rPr>
              <a:t>Springer Environmental Monitoring and Assessment</a:t>
            </a:r>
            <a:r>
              <a:rPr lang="en-US" dirty="0">
                <a:latin typeface="Times New Roman" panose="02020603050405020304" pitchFamily="18" charset="0"/>
                <a:cs typeface="Times New Roman" panose="02020603050405020304" pitchFamily="18" charset="0"/>
              </a:rPr>
              <a:t>, 2025 </a:t>
            </a:r>
            <a:endParaRPr lang="en-US" dirty="0" smtClean="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dirty="0">
                <a:latin typeface="Times New Roman" panose="02020603050405020304" pitchFamily="18" charset="0"/>
                <a:cs typeface="Times New Roman" panose="02020603050405020304" pitchFamily="18" charset="0"/>
              </a:rPr>
              <a:t>“Cloud-Based Air Quality Monitoring and Analysis Using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Sensors” – </a:t>
            </a:r>
            <a:r>
              <a:rPr lang="en-US" i="1" dirty="0">
                <a:latin typeface="Times New Roman" panose="02020603050405020304" pitchFamily="18" charset="0"/>
                <a:cs typeface="Times New Roman" panose="02020603050405020304" pitchFamily="18" charset="0"/>
              </a:rPr>
              <a:t>Springer Smart Cities Journal</a:t>
            </a:r>
            <a:r>
              <a:rPr lang="en-US" dirty="0">
                <a:latin typeface="Times New Roman" panose="02020603050405020304" pitchFamily="18" charset="0"/>
                <a:cs typeface="Times New Roman" panose="02020603050405020304" pitchFamily="18" charset="0"/>
              </a:rPr>
              <a:t>, 2025 </a:t>
            </a:r>
            <a:endParaRPr lang="en-US" dirty="0" smtClean="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dirty="0">
                <a:latin typeface="Times New Roman" panose="02020603050405020304" pitchFamily="18" charset="0"/>
                <a:cs typeface="Times New Roman" panose="02020603050405020304" pitchFamily="18" charset="0"/>
              </a:rPr>
              <a:t>“Real-Time Air Pollution Detection Using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and Edge Computing” – </a:t>
            </a:r>
            <a:r>
              <a:rPr lang="en-US" i="1" dirty="0">
                <a:latin typeface="Times New Roman" panose="02020603050405020304" pitchFamily="18" charset="0"/>
                <a:cs typeface="Times New Roman" panose="02020603050405020304" pitchFamily="18" charset="0"/>
              </a:rPr>
              <a:t>IEEE Internet of Things Journal</a:t>
            </a:r>
            <a:r>
              <a:rPr lang="en-US" dirty="0">
                <a:latin typeface="Times New Roman" panose="02020603050405020304" pitchFamily="18" charset="0"/>
                <a:cs typeface="Times New Roman" panose="02020603050405020304" pitchFamily="18" charset="0"/>
              </a:rPr>
              <a:t>, 2025 </a:t>
            </a:r>
            <a:endParaRPr lang="en-US" dirty="0" smtClean="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dirty="0">
                <a:latin typeface="Times New Roman" panose="02020603050405020304" pitchFamily="18" charset="0"/>
                <a:cs typeface="Times New Roman" panose="02020603050405020304" pitchFamily="18" charset="0"/>
              </a:rPr>
              <a:t>“Design of Wireless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-Based Air Quality Monitoring Using Cloud Platform” – </a:t>
            </a:r>
            <a:r>
              <a:rPr lang="en-US" i="1" dirty="0">
                <a:latin typeface="Times New Roman" panose="02020603050405020304" pitchFamily="18" charset="0"/>
                <a:cs typeface="Times New Roman" panose="02020603050405020304" pitchFamily="18" charset="0"/>
              </a:rPr>
              <a:t>IEEE Access</a:t>
            </a:r>
            <a:r>
              <a:rPr lang="en-US" dirty="0">
                <a:latin typeface="Times New Roman" panose="02020603050405020304" pitchFamily="18" charset="0"/>
                <a:cs typeface="Times New Roman" panose="02020603050405020304" pitchFamily="18" charset="0"/>
              </a:rPr>
              <a:t>, 2025 </a:t>
            </a: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“Intelligent Air Quality Monitoring and Forecasting Using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IoT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Machine Learning” – </a:t>
            </a:r>
            <a:r>
              <a:rPr kumimoji="0" lang="en-US" sz="18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IEEE Sensors Journal</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2025 </a:t>
            </a:r>
          </a:p>
        </p:txBody>
      </p:sp>
    </p:spTree>
    <p:extLst>
      <p:ext uri="{BB962C8B-B14F-4D97-AF65-F5344CB8AC3E}">
        <p14:creationId xmlns:p14="http://schemas.microsoft.com/office/powerpoint/2010/main" val="52775898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 name="Shape 20"/>
        <p:cNvGrpSpPr/>
        <p:nvPr/>
      </p:nvGrpSpPr>
      <p:grpSpPr>
        <a:xfrm>
          <a:off x="0" y="0"/>
          <a:ext cx="0" cy="0"/>
          <a:chOff x="0" y="0"/>
          <a:chExt cx="0" cy="0"/>
        </a:xfrm>
      </p:grpSpPr>
      <p:sp>
        <p:nvSpPr>
          <p:cNvPr id="21" name="Google Shape;21;p2"/>
          <p:cNvSpPr txBox="1"/>
          <p:nvPr/>
        </p:nvSpPr>
        <p:spPr>
          <a:xfrm>
            <a:off x="2231901" y="2481950"/>
            <a:ext cx="10235700" cy="144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800">
                <a:solidFill>
                  <a:schemeClr val="dk1"/>
                </a:solidFill>
                <a:latin typeface="Times New Roman"/>
                <a:ea typeface="Times New Roman"/>
                <a:cs typeface="Times New Roman"/>
                <a:sym typeface="Times New Roman"/>
              </a:rPr>
              <a:t>THANK YOU !</a:t>
            </a:r>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xmlns:mc="http://schemas.openxmlformats.org/markup-compatibility/2006" xmlns:mv="urn:schemas-microsoft-com:mac:vml">
  <p:tag name="may_ignore_ucw" val="true"/>
  <p:tag name="ppt/slides/slide11.xml" val="939758139"/>
  <p:tag name="ppt/slides/slide20.xml" val="3818568808"/>
  <p:tag name="ppt/slides/slide19.xml" val="1275513231"/>
  <p:tag name="ppt/slides/slide10.xml" val="1244658530"/>
  <p:tag name="ppt/slides/slide9.xml" val="2258921735"/>
  <p:tag name="ppt/slides/slide8.xml" val="1741877732"/>
  <p:tag name="ppt/slides/slide7.xml" val="1905283914"/>
  <p:tag name="ppt/slides/slide6.xml" val="2824638902"/>
  <p:tag name="ppt/slides/slide12.xml" val="180302383"/>
  <p:tag name="ppt/slides/slide13.xml" val="2716960962"/>
  <p:tag name="ppt/slides/slide17.xml" val="3791828489"/>
  <p:tag name="ppt/slides/slide16.xml" val="4002221444"/>
  <p:tag name="ppt/slides/slide15.xml" val="1456265041"/>
  <p:tag name="ppt/slides/slide14.xml" val="3011776117"/>
  <p:tag name="ppt/slides/slide5.xml" val="3491581137"/>
  <p:tag name="ppt/slides/slide4.xml" val="2102737462"/>
  <p:tag name="ppt/slides/slide3.xml" val="2600335541"/>
  <p:tag name="ppt/slides/slide1.xml" val="105123405"/>
  <p:tag name="ppt/slides/slide18.xml" val="1922878842"/>
  <p:tag name="ppt/slides/slide2.xml" val="1181815597"/>
  <p:tag name="ppt/slideMasters/slideMaster1.xml" val="1566590437"/>
  <p:tag name="ppt/slideLayouts/slideLayout1.xml" val="3100106183"/>
  <p:tag name="ppt/slideLayouts/slideLayout8.xml" val="3804026811"/>
  <p:tag name="ppt/slideLayouts/slideLayout9.xml" val="3374108182"/>
  <p:tag name="ppt/slideLayouts/slideLayout10.xml" val="356410186"/>
  <p:tag name="ppt/slideLayouts/slideLayout7.xml" val="3210830824"/>
  <p:tag name="ppt/slideLayouts/slideLayout6.xml" val="4027213352"/>
  <p:tag name="ppt/slideLayouts/slideLayout5.xml" val="192718378"/>
  <p:tag name="ppt/slideLayouts/slideLayout4.xml" val="2093572759"/>
  <p:tag name="ppt/slideLayouts/slideLayout3.xml" val="4015016082"/>
  <p:tag name="ppt/slideLayouts/slideLayout2.xml" val="1151436863"/>
  <p:tag name="ppt/notesSlides/notesSlide1.xml" val="1711804825"/>
  <p:tag name="ppt/slideLayouts/slideLayout11.xml" val="326436203"/>
  <p:tag name="ppt/theme/theme2.xml" val="4028356832"/>
  <p:tag name="ppt/media/image7.png" val="1556849731"/>
  <p:tag name="ppt/media/image1.jpeg" val="4000487362"/>
  <p:tag name="ppt/notesMasters/notesMaster1.xml" val="2393217384"/>
  <p:tag name="ppt/theme/theme1.xml" val="4028356832"/>
  <p:tag name="ppt/media/image6.jpeg" val="829394861"/>
  <p:tag name="ppt/media/image4.jpeg" val="3463140934"/>
  <p:tag name="ppt/media/image2.png" val="4064303958"/>
  <p:tag name="ppt/media/image3.png" val="1923559332"/>
  <p:tag name="ppt/media/image5.png" val="183939496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